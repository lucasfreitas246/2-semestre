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94" r:id="rId3"/>
    <p:sldId id="276" r:id="rId4"/>
    <p:sldId id="295" r:id="rId5"/>
    <p:sldId id="275" r:id="rId6"/>
    <p:sldId id="277" r:id="rId7"/>
    <p:sldId id="278" r:id="rId8"/>
    <p:sldId id="283" r:id="rId9"/>
    <p:sldId id="280" r:id="rId10"/>
    <p:sldId id="281" r:id="rId11"/>
    <p:sldId id="284" r:id="rId12"/>
    <p:sldId id="287" r:id="rId13"/>
    <p:sldId id="286" r:id="rId14"/>
    <p:sldId id="285" r:id="rId15"/>
    <p:sldId id="288" r:id="rId16"/>
    <p:sldId id="289" r:id="rId17"/>
    <p:sldId id="290" r:id="rId18"/>
    <p:sldId id="325" r:id="rId19"/>
    <p:sldId id="326" r:id="rId20"/>
    <p:sldId id="303" r:id="rId2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516C26-661C-4A4A-B899-2D85584DC25D}" type="doc">
      <dgm:prSet loTypeId="urn:microsoft.com/office/officeart/2005/8/layout/process1" loCatId="process" qsTypeId="urn:microsoft.com/office/officeart/2005/8/quickstyle/3d2#1" qsCatId="3D" csTypeId="urn:microsoft.com/office/officeart/2005/8/colors/accent1_2" csCatId="accent1" phldr="1"/>
      <dgm:spPr/>
    </dgm:pt>
    <dgm:pt modelId="{E9DE6B8E-49FB-4349-81FE-0CDC98B017AE}">
      <dgm:prSet phldrT="[Texto]"/>
      <dgm:spPr/>
      <dgm:t>
        <a:bodyPr/>
        <a:lstStyle/>
        <a:p>
          <a:r>
            <a:rPr lang="pt-BR" dirty="0"/>
            <a:t>ENTRADA</a:t>
          </a:r>
        </a:p>
      </dgm:t>
    </dgm:pt>
    <dgm:pt modelId="{CE1E44E4-3B77-4FB5-809F-606FE9E46BFB}" type="parTrans" cxnId="{27847B7D-DF6D-4BF5-807E-DF6D13A67F4B}">
      <dgm:prSet/>
      <dgm:spPr/>
      <dgm:t>
        <a:bodyPr/>
        <a:lstStyle/>
        <a:p>
          <a:endParaRPr lang="pt-BR"/>
        </a:p>
      </dgm:t>
    </dgm:pt>
    <dgm:pt modelId="{A69B0B73-4E0A-4039-8567-231E39618500}" type="sibTrans" cxnId="{27847B7D-DF6D-4BF5-807E-DF6D13A67F4B}">
      <dgm:prSet/>
      <dgm:spPr/>
      <dgm:t>
        <a:bodyPr/>
        <a:lstStyle/>
        <a:p>
          <a:endParaRPr lang="pt-BR"/>
        </a:p>
      </dgm:t>
    </dgm:pt>
    <dgm:pt modelId="{06747AA8-25A9-4DD0-8CDA-793B529DBBCD}">
      <dgm:prSet phldrT="[Texto]"/>
      <dgm:spPr/>
      <dgm:t>
        <a:bodyPr/>
        <a:lstStyle/>
        <a:p>
          <a:r>
            <a:rPr lang="pt-BR" dirty="0"/>
            <a:t>PROCESSAMENTO</a:t>
          </a:r>
        </a:p>
      </dgm:t>
    </dgm:pt>
    <dgm:pt modelId="{D3850B24-FD21-4647-A8D8-D4557D33F1B6}" type="parTrans" cxnId="{38412AA9-5FBD-442A-907F-CAC4B23CADBC}">
      <dgm:prSet/>
      <dgm:spPr/>
      <dgm:t>
        <a:bodyPr/>
        <a:lstStyle/>
        <a:p>
          <a:endParaRPr lang="pt-BR"/>
        </a:p>
      </dgm:t>
    </dgm:pt>
    <dgm:pt modelId="{89D9A8FF-7373-40BC-8E78-103DC7079BC9}" type="sibTrans" cxnId="{38412AA9-5FBD-442A-907F-CAC4B23CADBC}">
      <dgm:prSet/>
      <dgm:spPr/>
      <dgm:t>
        <a:bodyPr/>
        <a:lstStyle/>
        <a:p>
          <a:endParaRPr lang="pt-BR"/>
        </a:p>
      </dgm:t>
    </dgm:pt>
    <dgm:pt modelId="{765392C8-A429-46F6-AC38-6CAD21C39920}">
      <dgm:prSet phldrT="[Texto]"/>
      <dgm:spPr/>
      <dgm:t>
        <a:bodyPr/>
        <a:lstStyle/>
        <a:p>
          <a:r>
            <a:rPr lang="pt-BR" dirty="0"/>
            <a:t>SAÍDA</a:t>
          </a:r>
        </a:p>
      </dgm:t>
    </dgm:pt>
    <dgm:pt modelId="{A0BA19D8-7DAE-44E2-9A55-DF8622D247EF}" type="parTrans" cxnId="{FB7698FF-9C3F-4F18-B9D9-5623F68E3798}">
      <dgm:prSet/>
      <dgm:spPr/>
      <dgm:t>
        <a:bodyPr/>
        <a:lstStyle/>
        <a:p>
          <a:endParaRPr lang="pt-BR"/>
        </a:p>
      </dgm:t>
    </dgm:pt>
    <dgm:pt modelId="{545FBE71-A26B-454A-A99E-214B7797B2DA}" type="sibTrans" cxnId="{FB7698FF-9C3F-4F18-B9D9-5623F68E3798}">
      <dgm:prSet/>
      <dgm:spPr/>
      <dgm:t>
        <a:bodyPr/>
        <a:lstStyle/>
        <a:p>
          <a:endParaRPr lang="pt-BR"/>
        </a:p>
      </dgm:t>
    </dgm:pt>
    <dgm:pt modelId="{B64AEEF6-64CE-4F85-AAA3-86A4E5A0563F}" type="pres">
      <dgm:prSet presAssocID="{DC516C26-661C-4A4A-B899-2D85584DC25D}" presName="Name0" presStyleCnt="0">
        <dgm:presLayoutVars>
          <dgm:dir/>
          <dgm:resizeHandles val="exact"/>
        </dgm:presLayoutVars>
      </dgm:prSet>
      <dgm:spPr/>
    </dgm:pt>
    <dgm:pt modelId="{70866A19-7B09-4B5B-9FF6-C76447742EA7}" type="pres">
      <dgm:prSet presAssocID="{E9DE6B8E-49FB-4349-81FE-0CDC98B017AE}" presName="node" presStyleLbl="node1" presStyleIdx="0" presStyleCnt="3">
        <dgm:presLayoutVars>
          <dgm:bulletEnabled val="1"/>
        </dgm:presLayoutVars>
      </dgm:prSet>
      <dgm:spPr/>
    </dgm:pt>
    <dgm:pt modelId="{9DA3CCCD-96CF-44F2-A345-2E964713E09E}" type="pres">
      <dgm:prSet presAssocID="{A69B0B73-4E0A-4039-8567-231E39618500}" presName="sibTrans" presStyleLbl="sibTrans2D1" presStyleIdx="0" presStyleCnt="2"/>
      <dgm:spPr/>
    </dgm:pt>
    <dgm:pt modelId="{1DEE05F2-FB9A-42C8-BCDB-20424BFB3730}" type="pres">
      <dgm:prSet presAssocID="{A69B0B73-4E0A-4039-8567-231E39618500}" presName="connectorText" presStyleLbl="sibTrans2D1" presStyleIdx="0" presStyleCnt="2"/>
      <dgm:spPr/>
    </dgm:pt>
    <dgm:pt modelId="{3455E3F3-A470-45D5-9C6A-EEDF3EA5B50E}" type="pres">
      <dgm:prSet presAssocID="{06747AA8-25A9-4DD0-8CDA-793B529DBBCD}" presName="node" presStyleLbl="node1" presStyleIdx="1" presStyleCnt="3">
        <dgm:presLayoutVars>
          <dgm:bulletEnabled val="1"/>
        </dgm:presLayoutVars>
      </dgm:prSet>
      <dgm:spPr/>
    </dgm:pt>
    <dgm:pt modelId="{3672C119-571B-4C4C-8291-915EBAA5D7A4}" type="pres">
      <dgm:prSet presAssocID="{89D9A8FF-7373-40BC-8E78-103DC7079BC9}" presName="sibTrans" presStyleLbl="sibTrans2D1" presStyleIdx="1" presStyleCnt="2"/>
      <dgm:spPr/>
    </dgm:pt>
    <dgm:pt modelId="{A47E82CE-F6C2-48C9-92DF-C67216C1412D}" type="pres">
      <dgm:prSet presAssocID="{89D9A8FF-7373-40BC-8E78-103DC7079BC9}" presName="connectorText" presStyleLbl="sibTrans2D1" presStyleIdx="1" presStyleCnt="2"/>
      <dgm:spPr/>
    </dgm:pt>
    <dgm:pt modelId="{A1EF25D3-775B-4B33-A0F4-9CB3E37F42EA}" type="pres">
      <dgm:prSet presAssocID="{765392C8-A429-46F6-AC38-6CAD21C39920}" presName="node" presStyleLbl="node1" presStyleIdx="2" presStyleCnt="3">
        <dgm:presLayoutVars>
          <dgm:bulletEnabled val="1"/>
        </dgm:presLayoutVars>
      </dgm:prSet>
      <dgm:spPr/>
    </dgm:pt>
  </dgm:ptLst>
  <dgm:cxnLst>
    <dgm:cxn modelId="{BAFA6408-9CC2-438B-B15A-C4756A42597D}" type="presOf" srcId="{89D9A8FF-7373-40BC-8E78-103DC7079BC9}" destId="{A47E82CE-F6C2-48C9-92DF-C67216C1412D}" srcOrd="1" destOrd="0" presId="urn:microsoft.com/office/officeart/2005/8/layout/process1"/>
    <dgm:cxn modelId="{D1AD8E35-3D18-4323-9CE2-832A1C4EECD0}" type="presOf" srcId="{A69B0B73-4E0A-4039-8567-231E39618500}" destId="{9DA3CCCD-96CF-44F2-A345-2E964713E09E}" srcOrd="0" destOrd="0" presId="urn:microsoft.com/office/officeart/2005/8/layout/process1"/>
    <dgm:cxn modelId="{52FB8365-49A8-4C5F-87B4-2FAC5AFD6E03}" type="presOf" srcId="{E9DE6B8E-49FB-4349-81FE-0CDC98B017AE}" destId="{70866A19-7B09-4B5B-9FF6-C76447742EA7}" srcOrd="0" destOrd="0" presId="urn:microsoft.com/office/officeart/2005/8/layout/process1"/>
    <dgm:cxn modelId="{27847B7D-DF6D-4BF5-807E-DF6D13A67F4B}" srcId="{DC516C26-661C-4A4A-B899-2D85584DC25D}" destId="{E9DE6B8E-49FB-4349-81FE-0CDC98B017AE}" srcOrd="0" destOrd="0" parTransId="{CE1E44E4-3B77-4FB5-809F-606FE9E46BFB}" sibTransId="{A69B0B73-4E0A-4039-8567-231E39618500}"/>
    <dgm:cxn modelId="{99D41C84-AA19-43FE-80F3-A2D2F6E7E77D}" type="presOf" srcId="{89D9A8FF-7373-40BC-8E78-103DC7079BC9}" destId="{3672C119-571B-4C4C-8291-915EBAA5D7A4}" srcOrd="0" destOrd="0" presId="urn:microsoft.com/office/officeart/2005/8/layout/process1"/>
    <dgm:cxn modelId="{6CB8278F-2F67-4C76-9A7D-A4D39D6D1076}" type="presOf" srcId="{765392C8-A429-46F6-AC38-6CAD21C39920}" destId="{A1EF25D3-775B-4B33-A0F4-9CB3E37F42EA}" srcOrd="0" destOrd="0" presId="urn:microsoft.com/office/officeart/2005/8/layout/process1"/>
    <dgm:cxn modelId="{23224A98-798D-4B20-8484-247A61D3E17D}" type="presOf" srcId="{06747AA8-25A9-4DD0-8CDA-793B529DBBCD}" destId="{3455E3F3-A470-45D5-9C6A-EEDF3EA5B50E}" srcOrd="0" destOrd="0" presId="urn:microsoft.com/office/officeart/2005/8/layout/process1"/>
    <dgm:cxn modelId="{38412AA9-5FBD-442A-907F-CAC4B23CADBC}" srcId="{DC516C26-661C-4A4A-B899-2D85584DC25D}" destId="{06747AA8-25A9-4DD0-8CDA-793B529DBBCD}" srcOrd="1" destOrd="0" parTransId="{D3850B24-FD21-4647-A8D8-D4557D33F1B6}" sibTransId="{89D9A8FF-7373-40BC-8E78-103DC7079BC9}"/>
    <dgm:cxn modelId="{997E17C8-F130-4BC3-9147-7B9E4FA306F6}" type="presOf" srcId="{A69B0B73-4E0A-4039-8567-231E39618500}" destId="{1DEE05F2-FB9A-42C8-BCDB-20424BFB3730}" srcOrd="1" destOrd="0" presId="urn:microsoft.com/office/officeart/2005/8/layout/process1"/>
    <dgm:cxn modelId="{1AFF5CCE-3D8B-42A6-ACCB-7633EAA15AC5}" type="presOf" srcId="{DC516C26-661C-4A4A-B899-2D85584DC25D}" destId="{B64AEEF6-64CE-4F85-AAA3-86A4E5A0563F}" srcOrd="0" destOrd="0" presId="urn:microsoft.com/office/officeart/2005/8/layout/process1"/>
    <dgm:cxn modelId="{FB7698FF-9C3F-4F18-B9D9-5623F68E3798}" srcId="{DC516C26-661C-4A4A-B899-2D85584DC25D}" destId="{765392C8-A429-46F6-AC38-6CAD21C39920}" srcOrd="2" destOrd="0" parTransId="{A0BA19D8-7DAE-44E2-9A55-DF8622D247EF}" sibTransId="{545FBE71-A26B-454A-A99E-214B7797B2DA}"/>
    <dgm:cxn modelId="{97FDB10B-41F9-43A6-A1F6-245FFDA35BF7}" type="presParOf" srcId="{B64AEEF6-64CE-4F85-AAA3-86A4E5A0563F}" destId="{70866A19-7B09-4B5B-9FF6-C76447742EA7}" srcOrd="0" destOrd="0" presId="urn:microsoft.com/office/officeart/2005/8/layout/process1"/>
    <dgm:cxn modelId="{AE122B84-C1FC-41DF-A72F-5F1EEE390384}" type="presParOf" srcId="{B64AEEF6-64CE-4F85-AAA3-86A4E5A0563F}" destId="{9DA3CCCD-96CF-44F2-A345-2E964713E09E}" srcOrd="1" destOrd="0" presId="urn:microsoft.com/office/officeart/2005/8/layout/process1"/>
    <dgm:cxn modelId="{C299E1B6-BE8F-4705-A170-319006D2FAD1}" type="presParOf" srcId="{9DA3CCCD-96CF-44F2-A345-2E964713E09E}" destId="{1DEE05F2-FB9A-42C8-BCDB-20424BFB3730}" srcOrd="0" destOrd="0" presId="urn:microsoft.com/office/officeart/2005/8/layout/process1"/>
    <dgm:cxn modelId="{4913EE55-AF2F-4F69-AE91-C1FA06AE5DE6}" type="presParOf" srcId="{B64AEEF6-64CE-4F85-AAA3-86A4E5A0563F}" destId="{3455E3F3-A470-45D5-9C6A-EEDF3EA5B50E}" srcOrd="2" destOrd="0" presId="urn:microsoft.com/office/officeart/2005/8/layout/process1"/>
    <dgm:cxn modelId="{6A3F199F-1FA0-43E0-8D49-C9D3A2FD5293}" type="presParOf" srcId="{B64AEEF6-64CE-4F85-AAA3-86A4E5A0563F}" destId="{3672C119-571B-4C4C-8291-915EBAA5D7A4}" srcOrd="3" destOrd="0" presId="urn:microsoft.com/office/officeart/2005/8/layout/process1"/>
    <dgm:cxn modelId="{D593347B-D996-48A7-8544-9E30E18AB288}" type="presParOf" srcId="{3672C119-571B-4C4C-8291-915EBAA5D7A4}" destId="{A47E82CE-F6C2-48C9-92DF-C67216C1412D}" srcOrd="0" destOrd="0" presId="urn:microsoft.com/office/officeart/2005/8/layout/process1"/>
    <dgm:cxn modelId="{9C438290-04AA-49F2-B0E3-CD42C3999ADC}" type="presParOf" srcId="{B64AEEF6-64CE-4F85-AAA3-86A4E5A0563F}" destId="{A1EF25D3-775B-4B33-A0F4-9CB3E37F42E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66A19-7B09-4B5B-9FF6-C76447742EA7}">
      <dsp:nvSpPr>
        <dsp:cNvPr id="0" name=""/>
        <dsp:cNvSpPr/>
      </dsp:nvSpPr>
      <dsp:spPr>
        <a:xfrm>
          <a:off x="7233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ENTRADA</a:t>
          </a:r>
        </a:p>
      </dsp:txBody>
      <dsp:txXfrm>
        <a:off x="45225" y="1652410"/>
        <a:ext cx="2085893" cy="1221142"/>
      </dsp:txXfrm>
    </dsp:sp>
    <dsp:sp modelId="{9DA3CCCD-96CF-44F2-A345-2E964713E09E}">
      <dsp:nvSpPr>
        <dsp:cNvPr id="0" name=""/>
        <dsp:cNvSpPr/>
      </dsp:nvSpPr>
      <dsp:spPr>
        <a:xfrm>
          <a:off x="2385298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2385298" y="2102137"/>
        <a:ext cx="320822" cy="321687"/>
      </dsp:txXfrm>
    </dsp:sp>
    <dsp:sp modelId="{3455E3F3-A470-45D5-9C6A-EEDF3EA5B50E}">
      <dsp:nvSpPr>
        <dsp:cNvPr id="0" name=""/>
        <dsp:cNvSpPr/>
      </dsp:nvSpPr>
      <dsp:spPr>
        <a:xfrm>
          <a:off x="3033861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PROCESSAMENTO</a:t>
          </a:r>
        </a:p>
      </dsp:txBody>
      <dsp:txXfrm>
        <a:off x="3071853" y="1652410"/>
        <a:ext cx="2085893" cy="1221142"/>
      </dsp:txXfrm>
    </dsp:sp>
    <dsp:sp modelId="{3672C119-571B-4C4C-8291-915EBAA5D7A4}">
      <dsp:nvSpPr>
        <dsp:cNvPr id="0" name=""/>
        <dsp:cNvSpPr/>
      </dsp:nvSpPr>
      <dsp:spPr>
        <a:xfrm>
          <a:off x="5411926" y="1994908"/>
          <a:ext cx="458317" cy="536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kern="1200"/>
        </a:p>
      </dsp:txBody>
      <dsp:txXfrm>
        <a:off x="5411926" y="2102137"/>
        <a:ext cx="320822" cy="321687"/>
      </dsp:txXfrm>
    </dsp:sp>
    <dsp:sp modelId="{A1EF25D3-775B-4B33-A0F4-9CB3E37F42EA}">
      <dsp:nvSpPr>
        <dsp:cNvPr id="0" name=""/>
        <dsp:cNvSpPr/>
      </dsp:nvSpPr>
      <dsp:spPr>
        <a:xfrm>
          <a:off x="6060489" y="1614418"/>
          <a:ext cx="2161877" cy="1297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SAÍDA</a:t>
          </a:r>
        </a:p>
      </dsp:txBody>
      <dsp:txXfrm>
        <a:off x="6098481" y="1652410"/>
        <a:ext cx="2085893" cy="1221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9BBCB-FD86-435A-B104-26F3E210DBEC}" type="datetimeFigureOut">
              <a:rPr lang="pt-BR" smtClean="0"/>
              <a:pPr/>
              <a:t>04/08/2026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12388-7660-41E6-9540-2BD42328912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6652" y="2301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	Analise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52" y="1166019"/>
            <a:ext cx="8229600" cy="2839046"/>
          </a:xfrm>
        </p:spPr>
        <p:txBody>
          <a:bodyPr/>
          <a:lstStyle/>
          <a:p>
            <a:pPr algn="ctr"/>
            <a:r>
              <a:rPr lang="pt-BR" dirty="0"/>
              <a:t>Análise de sistemas é a atividade que tem como finalidade a realização de estudos de processos a fim de encontrar o melhor caminho racional para que a informação possa ser processada. </a:t>
            </a:r>
          </a:p>
        </p:txBody>
      </p:sp>
      <p:pic>
        <p:nvPicPr>
          <p:cNvPr id="4" name="Imagem 3" descr="giphy (1)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3866574"/>
            <a:ext cx="3000396" cy="300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71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6652" y="2301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	O que faz um analista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52" y="1166019"/>
            <a:ext cx="8229600" cy="2334989"/>
          </a:xfrm>
        </p:spPr>
        <p:txBody>
          <a:bodyPr/>
          <a:lstStyle/>
          <a:p>
            <a:pPr algn="ctr"/>
            <a:r>
              <a:rPr lang="pt-BR" dirty="0"/>
              <a:t>Um analista de sistemas pode trabalhar no projeto de criação de um novo sistema ou no serviço de manutenção de sistemas já prontos.</a:t>
            </a:r>
          </a:p>
        </p:txBody>
      </p:sp>
      <p:pic>
        <p:nvPicPr>
          <p:cNvPr id="4" name="Imagem 3" descr="giphy (1)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3717032"/>
            <a:ext cx="3000396" cy="300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3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sistema?</a:t>
            </a:r>
          </a:p>
        </p:txBody>
      </p:sp>
      <p:pic>
        <p:nvPicPr>
          <p:cNvPr id="12" name="Espaço Reservado para Conteúdo 11" descr="876f9c5858d664d0efa0c476db65ef87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6652" y="23018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/>
              <a:t>	O que é um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52" y="1166019"/>
            <a:ext cx="8229600" cy="2334989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Um sistema pode ser definido como um conjunto de componentes interconectados que trabalham juntos para alcançar um objetivo específico. Esses componentes podem incluir pessoas, processos, hardware, software e dados. </a:t>
            </a:r>
          </a:p>
        </p:txBody>
      </p:sp>
      <p:pic>
        <p:nvPicPr>
          <p:cNvPr id="2050" name="Picture 2" descr="Sistema Operacional. - RamalVirtual Telecom">
            <a:extLst>
              <a:ext uri="{FF2B5EF4-FFF2-40B4-BE49-F238E27FC236}">
                <a16:creationId xmlns:a16="http://schemas.microsoft.com/office/drawing/2014/main" id="{CA5F1641-7167-4C25-B32E-2CB9F6862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956" y="3284984"/>
            <a:ext cx="3356992" cy="335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69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943" y="1600200"/>
            <a:ext cx="3556114" cy="45259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tângulo 4"/>
          <p:cNvSpPr/>
          <p:nvPr/>
        </p:nvSpPr>
        <p:spPr>
          <a:xfrm>
            <a:off x="6715140" y="6241546"/>
            <a:ext cx="1656184" cy="61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PESSOAS</a:t>
            </a:r>
          </a:p>
        </p:txBody>
      </p:sp>
      <p:sp>
        <p:nvSpPr>
          <p:cNvPr id="6" name="Retângulo 5"/>
          <p:cNvSpPr/>
          <p:nvPr/>
        </p:nvSpPr>
        <p:spPr>
          <a:xfrm>
            <a:off x="785786" y="6241546"/>
            <a:ext cx="1656184" cy="61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MÉTODOS</a:t>
            </a:r>
          </a:p>
        </p:txBody>
      </p:sp>
      <p:sp>
        <p:nvSpPr>
          <p:cNvPr id="7" name="Retângulo 6"/>
          <p:cNvSpPr/>
          <p:nvPr/>
        </p:nvSpPr>
        <p:spPr>
          <a:xfrm>
            <a:off x="3857620" y="6241546"/>
            <a:ext cx="1656184" cy="61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MÁQUINAS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643042" y="357166"/>
            <a:ext cx="57864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rgbClr val="3333CC"/>
                </a:solidFill>
              </a:rPr>
              <a:t>CONJUNTO DE ELEMENTOS AFIM DE CUMPRIR UM OBJETIVO.</a:t>
            </a:r>
            <a:endParaRPr lang="pt-BR" sz="28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ETAPAS DE UM SISTEMA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UM SISTEMA.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pt-BR" dirty="0"/>
              <a:t>Aluno realiza avaliação no Google </a:t>
            </a:r>
            <a:r>
              <a:rPr lang="pt-BR" dirty="0" err="1"/>
              <a:t>forms</a:t>
            </a:r>
            <a:r>
              <a:rPr lang="pt-BR" dirty="0"/>
              <a:t> </a:t>
            </a:r>
            <a:r>
              <a:rPr lang="pt-BR" b="1" dirty="0">
                <a:solidFill>
                  <a:srgbClr val="FF0000"/>
                </a:solidFill>
              </a:rPr>
              <a:t>(entrada), </a:t>
            </a:r>
            <a:r>
              <a:rPr lang="pt-BR" dirty="0"/>
              <a:t>formulário é processado </a:t>
            </a:r>
            <a:r>
              <a:rPr lang="pt-BR" b="1" dirty="0">
                <a:solidFill>
                  <a:srgbClr val="FF0000"/>
                </a:solidFill>
              </a:rPr>
              <a:t>(processamento), </a:t>
            </a:r>
            <a:r>
              <a:rPr lang="pt-BR" dirty="0"/>
              <a:t>menção do aluno é mostrada na tela </a:t>
            </a:r>
            <a:r>
              <a:rPr lang="pt-BR" b="1" dirty="0">
                <a:solidFill>
                  <a:srgbClr val="FF0000"/>
                </a:solidFill>
              </a:rPr>
              <a:t>(saída).</a:t>
            </a:r>
          </a:p>
          <a:p>
            <a:endParaRPr lang="pt-BR" dirty="0"/>
          </a:p>
        </p:txBody>
      </p:sp>
      <p:pic>
        <p:nvPicPr>
          <p:cNvPr id="4" name="Imagem 3" descr="giphy (1)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78" y="3643314"/>
            <a:ext cx="3000396" cy="3000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Uma simples tela de </a:t>
            </a:r>
            <a:r>
              <a:rPr lang="pt-BR" dirty="0" err="1"/>
              <a:t>Login</a:t>
            </a:r>
            <a:r>
              <a:rPr lang="pt-BR" dirty="0"/>
              <a:t>?</a:t>
            </a:r>
          </a:p>
        </p:txBody>
      </p:sp>
      <p:pic>
        <p:nvPicPr>
          <p:cNvPr id="4" name="Picture 2" descr="https://cdn-images-1.medium.com/max/1600/1*E7g_9Hi9ij8fXYO8VCLerA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2077244"/>
            <a:ext cx="5429250" cy="357187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a relação entre usuário e TI?</a:t>
            </a:r>
          </a:p>
        </p:txBody>
      </p:sp>
      <p:pic>
        <p:nvPicPr>
          <p:cNvPr id="4" name="Espaço Reservado para Conteúdo 3" descr="804bcccfe6fc98e1cf20aab1ff3bff36 (1).gi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750" y="2077244"/>
            <a:ext cx="4762500" cy="3571875"/>
          </a:xfrm>
        </p:spPr>
      </p:pic>
      <p:sp>
        <p:nvSpPr>
          <p:cNvPr id="5" name="Retângulo 4"/>
          <p:cNvSpPr/>
          <p:nvPr/>
        </p:nvSpPr>
        <p:spPr>
          <a:xfrm>
            <a:off x="2485996" y="1285860"/>
            <a:ext cx="1656184" cy="61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PROBLEMA</a:t>
            </a:r>
          </a:p>
        </p:txBody>
      </p:sp>
      <p:sp>
        <p:nvSpPr>
          <p:cNvPr id="6" name="Retângulo 5"/>
          <p:cNvSpPr/>
          <p:nvPr/>
        </p:nvSpPr>
        <p:spPr>
          <a:xfrm>
            <a:off x="4857752" y="1285860"/>
            <a:ext cx="1656184" cy="6164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SOLUÇÃO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requisito de Software?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ctr"/>
            <a:r>
              <a:rPr lang="pt-BR" altLang="pt-BR" dirty="0"/>
              <a:t>Uma capacidade que um usuário necessita para resolver um problema ou atingir um objetivo;</a:t>
            </a:r>
          </a:p>
          <a:p>
            <a:pPr algn="ctr"/>
            <a:r>
              <a:rPr lang="pt-BR" dirty="0"/>
              <a:t>Um requisito é a propriedade que um software exibe para solucionar problemas reais.</a:t>
            </a:r>
          </a:p>
          <a:p>
            <a:pPr lvl="0" algn="ctr"/>
            <a:endParaRPr lang="pt-BR" altLang="pt-BR" dirty="0"/>
          </a:p>
          <a:p>
            <a:endParaRPr lang="pt-BR" dirty="0"/>
          </a:p>
        </p:txBody>
      </p:sp>
      <p:pic>
        <p:nvPicPr>
          <p:cNvPr id="6" name="Imagem 5" descr="Robot-PNG-H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29058" y="4929198"/>
            <a:ext cx="1459995" cy="10911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 de requisitos</a:t>
            </a:r>
          </a:p>
        </p:txBody>
      </p:sp>
      <p:pic>
        <p:nvPicPr>
          <p:cNvPr id="4" name="Picture 4" descr="https://cdn-images-1.medium.com/max/1600/0*gy-vQZGEjoeIZO5o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04" y="1928802"/>
            <a:ext cx="6000760" cy="442086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700808"/>
            <a:ext cx="8229600" cy="4525963"/>
          </a:xfrm>
        </p:spPr>
        <p:txBody>
          <a:bodyPr/>
          <a:lstStyle/>
          <a:p>
            <a:pPr algn="just"/>
            <a:r>
              <a:rPr lang="pt-BR" b="1" spc="-5" dirty="0">
                <a:latin typeface="Georgia" panose="02040502050405020303" pitchFamily="18" charset="0"/>
                <a:ea typeface="Times New Roman" panose="02020603050405020304" pitchFamily="18" charset="0"/>
              </a:rPr>
              <a:t>Requisitos Funcionais (Função-Resultado): </a:t>
            </a:r>
          </a:p>
          <a:p>
            <a:pPr marL="0" indent="0" algn="just">
              <a:buNone/>
            </a:pPr>
            <a:r>
              <a:rPr lang="pt-BR" spc="-5" dirty="0">
                <a:latin typeface="Georgia" panose="02040502050405020303" pitchFamily="18" charset="0"/>
                <a:ea typeface="Times New Roman" panose="02020603050405020304" pitchFamily="18" charset="0"/>
              </a:rPr>
              <a:t>Nada mais é, como o próprio nome por si já diz, referem a funcionalidades do sistema, são as funções que o sistema/aplicativo devem possuir para atender o negócio e suas regras.</a:t>
            </a:r>
            <a:endParaRPr lang="pt-B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spc="-5" dirty="0">
                <a:latin typeface="Georgia" panose="02040502050405020303" pitchFamily="18" charset="0"/>
                <a:ea typeface="Times New Roman" panose="02020603050405020304" pitchFamily="18" charset="0"/>
              </a:rPr>
              <a:t>Requisitos Não-Funcionais (Qualidade):</a:t>
            </a:r>
            <a:r>
              <a:rPr lang="pt-BR" spc="-5" dirty="0">
                <a:latin typeface="Georgia" panose="02040502050405020303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 algn="just">
              <a:buNone/>
            </a:pPr>
            <a:r>
              <a:rPr lang="pt-BR" spc="-5" dirty="0">
                <a:latin typeface="Georgia" panose="02040502050405020303" pitchFamily="18" charset="0"/>
                <a:ea typeface="Times New Roman" panose="02020603050405020304" pitchFamily="18" charset="0"/>
              </a:rPr>
              <a:t>Tangem a exigência técnica de um ambiente, como sendo: aspectos de segurança do sistema, desempenho, prevenção de falhas e etc.</a:t>
            </a:r>
            <a:endParaRPr lang="pt-B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spc="-5" dirty="0"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Regra de Negócios (Restrições):</a:t>
            </a:r>
          </a:p>
          <a:p>
            <a:pPr marL="0" indent="0">
              <a:buNone/>
            </a:pPr>
            <a:r>
              <a:rPr lang="pt-BR" spc="-5" dirty="0"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São premissas e/ou restrições aplicadas a uma operação comercial de uma empresa por exemplo, de forma que atenda ao negócio e funcione da maneira esperada, ou seja, conforme as regras estabelecidas.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PROTÓTIPO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2" y="2015331"/>
            <a:ext cx="402907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IDENTIFICAR OS REQUISITOS FUNCIONAIS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2" y="2015331"/>
            <a:ext cx="402907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IDENTIFICAR OS REQUISITOS NÃO FUNCIONAIS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462" y="2015331"/>
            <a:ext cx="402907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pt-BR" dirty="0"/>
              <a:t>Resposta Funcional-Calculadora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C12FB84-A7BE-4F88-AA76-984BEAB4C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1730793"/>
              </p:ext>
            </p:extLst>
          </p:nvPr>
        </p:nvGraphicFramePr>
        <p:xfrm>
          <a:off x="181794" y="1844824"/>
          <a:ext cx="8962206" cy="4418979"/>
        </p:xfrm>
        <a:graphic>
          <a:graphicData uri="http://schemas.openxmlformats.org/drawingml/2006/table">
            <a:tbl>
              <a:tblPr/>
              <a:tblGrid>
                <a:gridCol w="2042143">
                  <a:extLst>
                    <a:ext uri="{9D8B030D-6E8A-4147-A177-3AD203B41FA5}">
                      <a16:colId xmlns:a16="http://schemas.microsoft.com/office/drawing/2014/main" val="820294202"/>
                    </a:ext>
                  </a:extLst>
                </a:gridCol>
                <a:gridCol w="6920063">
                  <a:extLst>
                    <a:ext uri="{9D8B030D-6E8A-4147-A177-3AD203B41FA5}">
                      <a16:colId xmlns:a16="http://schemas.microsoft.com/office/drawing/2014/main" val="3078300481"/>
                    </a:ext>
                  </a:extLst>
                </a:gridCol>
              </a:tblGrid>
              <a:tr h="417576">
                <a:tc>
                  <a:txBody>
                    <a:bodyPr/>
                    <a:lstStyle/>
                    <a:p>
                      <a:r>
                        <a:rPr lang="pt-BR" sz="2400" b="1"/>
                        <a:t>Código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/>
                        <a:t>Requisito Funcional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799407"/>
                  </a:ext>
                </a:extLst>
              </a:tr>
              <a:tr h="427395">
                <a:tc>
                  <a:txBody>
                    <a:bodyPr/>
                    <a:lstStyle/>
                    <a:p>
                      <a:r>
                        <a:rPr lang="pt-BR" sz="1800" b="1"/>
                        <a:t>RF01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/>
                        <a:t>O sistema deve permitir inserir números por meio dos botões da interface.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186619"/>
                  </a:ext>
                </a:extLst>
              </a:tr>
              <a:tr h="427395">
                <a:tc>
                  <a:txBody>
                    <a:bodyPr/>
                    <a:lstStyle/>
                    <a:p>
                      <a:r>
                        <a:rPr lang="pt-BR" sz="1800" b="1"/>
                        <a:t>RF02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/>
                        <a:t>O sistema deve realizar operações de adição (+).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266972"/>
                  </a:ext>
                </a:extLst>
              </a:tr>
              <a:tr h="427395">
                <a:tc>
                  <a:txBody>
                    <a:bodyPr/>
                    <a:lstStyle/>
                    <a:p>
                      <a:r>
                        <a:rPr lang="pt-BR" sz="1800" b="1" dirty="0"/>
                        <a:t>RF03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/>
                        <a:t>O sistema deve realizar operações de subtração (-).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654593"/>
                  </a:ext>
                </a:extLst>
              </a:tr>
              <a:tr h="427395">
                <a:tc>
                  <a:txBody>
                    <a:bodyPr/>
                    <a:lstStyle/>
                    <a:p>
                      <a:r>
                        <a:rPr lang="pt-BR" sz="1800" b="1"/>
                        <a:t>RF04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/>
                        <a:t>O sistema deve realizar operações de multiplicação (×).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47879"/>
                  </a:ext>
                </a:extLst>
              </a:tr>
              <a:tr h="427395">
                <a:tc>
                  <a:txBody>
                    <a:bodyPr/>
                    <a:lstStyle/>
                    <a:p>
                      <a:r>
                        <a:rPr lang="pt-BR" sz="1800" b="1"/>
                        <a:t>RF05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/>
                        <a:t>O sistema deve realizar operações de divisão (÷).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318208"/>
                  </a:ext>
                </a:extLst>
              </a:tr>
              <a:tr h="633264">
                <a:tc>
                  <a:txBody>
                    <a:bodyPr/>
                    <a:lstStyle/>
                    <a:p>
                      <a:r>
                        <a:rPr lang="pt-BR" sz="1800" b="1"/>
                        <a:t>RF06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/>
                        <a:t>O sistema deve exibir o resultado da operação quando o usuário pressionar o botão "=".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290257"/>
                  </a:ext>
                </a:extLst>
              </a:tr>
              <a:tr h="427395">
                <a:tc>
                  <a:txBody>
                    <a:bodyPr/>
                    <a:lstStyle/>
                    <a:p>
                      <a:r>
                        <a:rPr lang="pt-BR" sz="1800" b="1"/>
                        <a:t>RF07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/>
                        <a:t>O sistema deve permitir apagar o último dígito inserido.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0557"/>
                  </a:ext>
                </a:extLst>
              </a:tr>
              <a:tr h="633264">
                <a:tc>
                  <a:txBody>
                    <a:bodyPr/>
                    <a:lstStyle/>
                    <a:p>
                      <a:r>
                        <a:rPr lang="pt-BR" sz="1800" b="1"/>
                        <a:t>RF08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/>
                        <a:t>O sistema deve permitir limpar completamente a operação em andamento (botão "C" ou "AC").</a:t>
                      </a:r>
                    </a:p>
                  </a:txBody>
                  <a:tcPr marL="49260" marR="49260" marT="24630" marB="246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92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293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pt-BR" dirty="0"/>
              <a:t>Resposta Funcional-Calculadora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C12FB84-A7BE-4F88-AA76-984BEAB4C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860686"/>
              </p:ext>
            </p:extLst>
          </p:nvPr>
        </p:nvGraphicFramePr>
        <p:xfrm>
          <a:off x="305780" y="1224206"/>
          <a:ext cx="8532440" cy="5212080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820294202"/>
                    </a:ext>
                  </a:extLst>
                </a:gridCol>
                <a:gridCol w="6588224">
                  <a:extLst>
                    <a:ext uri="{9D8B030D-6E8A-4147-A177-3AD203B41FA5}">
                      <a16:colId xmlns:a16="http://schemas.microsoft.com/office/drawing/2014/main" val="3078300481"/>
                    </a:ext>
                  </a:extLst>
                </a:gridCol>
              </a:tblGrid>
              <a:tr h="206402">
                <a:tc>
                  <a:txBody>
                    <a:bodyPr/>
                    <a:lstStyle/>
                    <a:p>
                      <a:r>
                        <a:rPr lang="pt-BR" b="1" dirty="0"/>
                        <a:t>Código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Requisito Não Funcional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799407"/>
                  </a:ext>
                </a:extLst>
              </a:tr>
              <a:tr h="362385">
                <a:tc>
                  <a:txBody>
                    <a:bodyPr/>
                    <a:lstStyle/>
                    <a:p>
                      <a:r>
                        <a:rPr lang="pt-BR" b="1"/>
                        <a:t>RNF01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O sistema deve responder às operações em até 1 segundo.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186619"/>
                  </a:ext>
                </a:extLst>
              </a:tr>
              <a:tr h="362385">
                <a:tc>
                  <a:txBody>
                    <a:bodyPr/>
                    <a:lstStyle/>
                    <a:p>
                      <a:r>
                        <a:rPr lang="pt-BR" b="1"/>
                        <a:t>RNF02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A interface deve ser simples e intuitiva, permitindo o uso sem treinamento.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266972"/>
                  </a:ext>
                </a:extLst>
              </a:tr>
              <a:tr h="362385">
                <a:tc>
                  <a:txBody>
                    <a:bodyPr/>
                    <a:lstStyle/>
                    <a:p>
                      <a:r>
                        <a:rPr lang="pt-BR" b="1"/>
                        <a:t>RNF03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A aplicação deve estar disponível durante todo o período de uso, sem falhas inesperadas.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654593"/>
                  </a:ext>
                </a:extLst>
              </a:tr>
              <a:tr h="362385">
                <a:tc>
                  <a:txBody>
                    <a:bodyPr/>
                    <a:lstStyle/>
                    <a:p>
                      <a:r>
                        <a:rPr lang="pt-BR" b="1"/>
                        <a:t>RNF04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O sistema deve funcionar nos principais navegadores (Chrome, Firefox, Edge e Safari), caso seja uma aplicação web.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47879"/>
                  </a:ext>
                </a:extLst>
              </a:tr>
              <a:tr h="362385">
                <a:tc>
                  <a:txBody>
                    <a:bodyPr/>
                    <a:lstStyle/>
                    <a:p>
                      <a:r>
                        <a:rPr lang="pt-BR" b="1"/>
                        <a:t>RNF05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O sistema deve ser compatível com dispositivos móveis e computadores (design responsivo).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318208"/>
                  </a:ext>
                </a:extLst>
              </a:tr>
              <a:tr h="518369">
                <a:tc>
                  <a:txBody>
                    <a:bodyPr/>
                    <a:lstStyle/>
                    <a:p>
                      <a:r>
                        <a:rPr lang="pt-BR" b="1"/>
                        <a:t>RNF06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O sistema deve exibir mensagens de erro claras quando ocorrer uma operação inválida, como divisão por zero.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290257"/>
                  </a:ext>
                </a:extLst>
              </a:tr>
              <a:tr h="362385">
                <a:tc>
                  <a:txBody>
                    <a:bodyPr/>
                    <a:lstStyle/>
                    <a:p>
                      <a:r>
                        <a:rPr lang="pt-BR" b="1"/>
                        <a:t>RNF07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/>
                        <a:t>O sistema deve manter a precisão dos cálculos de acordo com o padrão da linguagem ou tecnologia utilizada.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80557"/>
                  </a:ext>
                </a:extLst>
              </a:tr>
              <a:tr h="518369">
                <a:tc>
                  <a:txBody>
                    <a:bodyPr/>
                    <a:lstStyle/>
                    <a:p>
                      <a:r>
                        <a:rPr lang="pt-BR" b="1"/>
                        <a:t>RNF08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A interface deve ser acessível, com contraste adequado e suporte à navegação por teclado.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926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647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494" y="237455"/>
            <a:ext cx="8229600" cy="1143000"/>
          </a:xfrm>
        </p:spPr>
        <p:txBody>
          <a:bodyPr/>
          <a:lstStyle/>
          <a:p>
            <a:r>
              <a:rPr lang="pt-BR" dirty="0"/>
              <a:t>ATIVIDADE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382697"/>
            <a:ext cx="8435280" cy="4926623"/>
          </a:xfrm>
        </p:spPr>
        <p:txBody>
          <a:bodyPr>
            <a:normAutofit fontScale="25000" lnSpcReduction="20000"/>
          </a:bodyPr>
          <a:lstStyle/>
          <a:p>
            <a:r>
              <a:rPr lang="pt-BR" sz="6200" dirty="0"/>
              <a:t>Uma escola deseja desenvolver um </a:t>
            </a:r>
            <a:r>
              <a:rPr lang="pt-BR" sz="6200" b="1" dirty="0"/>
              <a:t>Sistema de Biblioteca Online</a:t>
            </a:r>
            <a:r>
              <a:rPr lang="pt-BR" sz="6200" dirty="0"/>
              <a:t> para melhorar o controle de empréstimos de livros.</a:t>
            </a:r>
          </a:p>
          <a:p>
            <a:pPr marL="0" indent="0">
              <a:buNone/>
            </a:pPr>
            <a:endParaRPr lang="pt-BR" sz="6200" dirty="0"/>
          </a:p>
          <a:p>
            <a:r>
              <a:rPr lang="pt-BR" sz="6200" dirty="0"/>
              <a:t>Cadastro de alunos.</a:t>
            </a:r>
          </a:p>
          <a:p>
            <a:r>
              <a:rPr lang="pt-BR" sz="6200" dirty="0"/>
              <a:t>Cadastro de livros.</a:t>
            </a:r>
          </a:p>
          <a:p>
            <a:r>
              <a:rPr lang="pt-BR" sz="6200" dirty="0"/>
              <a:t>Empréstimo e devolução de livros.</a:t>
            </a:r>
          </a:p>
          <a:p>
            <a:r>
              <a:rPr lang="pt-BR" sz="6200" dirty="0"/>
              <a:t>Consulta de livros disponíveis.</a:t>
            </a:r>
          </a:p>
          <a:p>
            <a:r>
              <a:rPr lang="pt-BR" sz="6200" dirty="0"/>
              <a:t>Controle de multas por atraso.</a:t>
            </a:r>
          </a:p>
          <a:p>
            <a:pPr marL="0" indent="0">
              <a:buNone/>
            </a:pPr>
            <a:endParaRPr lang="pt-BR" sz="6200" dirty="0"/>
          </a:p>
          <a:p>
            <a:pPr marL="0" indent="0">
              <a:buNone/>
            </a:pPr>
            <a:r>
              <a:rPr lang="pt-BR" sz="6200" dirty="0"/>
              <a:t>A escola também deseja que o sistema:</a:t>
            </a:r>
          </a:p>
          <a:p>
            <a:pPr marL="0" indent="0">
              <a:buNone/>
            </a:pPr>
            <a:endParaRPr lang="pt-BR" sz="6200" dirty="0"/>
          </a:p>
          <a:p>
            <a:r>
              <a:rPr lang="pt-BR" sz="6200" dirty="0"/>
              <a:t>Seja acessado pela internet e aplicativo.</a:t>
            </a:r>
          </a:p>
          <a:p>
            <a:r>
              <a:rPr lang="pt-BR" sz="6200" dirty="0"/>
              <a:t>Seja rápido.</a:t>
            </a:r>
          </a:p>
          <a:p>
            <a:r>
              <a:rPr lang="pt-BR" sz="6200" dirty="0"/>
              <a:t>Proteja os dados dos alunos.</a:t>
            </a:r>
          </a:p>
          <a:p>
            <a:r>
              <a:rPr lang="pt-BR" sz="6200" dirty="0"/>
              <a:t>Esteja disponível durante o horário escolar.</a:t>
            </a:r>
          </a:p>
          <a:p>
            <a:pPr marL="0" indent="0">
              <a:buNone/>
            </a:pPr>
            <a:endParaRPr lang="pt-BR" sz="6200" dirty="0"/>
          </a:p>
          <a:p>
            <a:pPr marL="0" indent="0">
              <a:buNone/>
            </a:pPr>
            <a:r>
              <a:rPr lang="pt-BR" sz="6200" dirty="0"/>
              <a:t>Fazer em uma folha requisitos funcionais e não funcionais</a:t>
            </a:r>
          </a:p>
          <a:p>
            <a:pPr marL="0" indent="0">
              <a:buNone/>
            </a:pPr>
            <a:endParaRPr lang="pt-BR" sz="4800" dirty="0"/>
          </a:p>
          <a:p>
            <a:pPr marL="0" indent="0">
              <a:buNone/>
            </a:pP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782331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</TotalTime>
  <Words>681</Words>
  <Application>Microsoft Office PowerPoint</Application>
  <PresentationFormat>Apresentação na tela (4:3)</PresentationFormat>
  <Paragraphs>92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Georgia</vt:lpstr>
      <vt:lpstr>Times New Roman</vt:lpstr>
      <vt:lpstr>Tema do Office</vt:lpstr>
      <vt:lpstr> Analise de Sistemas</vt:lpstr>
      <vt:lpstr> O que faz um analista</vt:lpstr>
      <vt:lpstr>O que é um sistema?</vt:lpstr>
      <vt:lpstr> O que é um sistema</vt:lpstr>
      <vt:lpstr>Apresentação do PowerPoint</vt:lpstr>
      <vt:lpstr>ETAPAS DE UM SISTEMA</vt:lpstr>
      <vt:lpstr>EXEMPLO DE UM SISTEMA.</vt:lpstr>
      <vt:lpstr>Uma simples tela de Login?</vt:lpstr>
      <vt:lpstr>Qual a relação entre usuário e TI?</vt:lpstr>
      <vt:lpstr>O que é um requisito de Software?</vt:lpstr>
      <vt:lpstr>Tipo de requisitos</vt:lpstr>
      <vt:lpstr>REQUISITOS</vt:lpstr>
      <vt:lpstr>REQUISITOS</vt:lpstr>
      <vt:lpstr>REQUISITOS</vt:lpstr>
      <vt:lpstr>PROTÓTIPO</vt:lpstr>
      <vt:lpstr>IDENTIFICAR OS REQUISITOS FUNCIONAIS</vt:lpstr>
      <vt:lpstr>IDENTIFICAR OS REQUISITOS NÃO FUNCIONAIS</vt:lpstr>
      <vt:lpstr>Resposta Funcional-Calculadora</vt:lpstr>
      <vt:lpstr>Resposta Funcional-Calculadora</vt:lpstr>
      <vt:lpstr>ATIVIDADE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PROJETO DE SISTEMAS.</dc:title>
  <dc:creator>Thunde</dc:creator>
  <cp:lastModifiedBy>Lab04</cp:lastModifiedBy>
  <cp:revision>96</cp:revision>
  <dcterms:created xsi:type="dcterms:W3CDTF">2024-02-18T03:16:46Z</dcterms:created>
  <dcterms:modified xsi:type="dcterms:W3CDTF">2026-08-05T00:52:13Z</dcterms:modified>
</cp:coreProperties>
</file>