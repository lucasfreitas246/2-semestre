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331" r:id="rId3"/>
    <p:sldId id="313" r:id="rId4"/>
    <p:sldId id="311" r:id="rId5"/>
    <p:sldId id="329" r:id="rId6"/>
    <p:sldId id="310" r:id="rId7"/>
    <p:sldId id="320" r:id="rId8"/>
    <p:sldId id="325" r:id="rId9"/>
    <p:sldId id="330" r:id="rId10"/>
    <p:sldId id="327" r:id="rId11"/>
    <p:sldId id="328" r:id="rId12"/>
    <p:sldId id="324" r:id="rId13"/>
    <p:sldId id="332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596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9BBCB-FD86-435A-B104-26F3E210DBEC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08520" y="230833"/>
            <a:ext cx="9144819" cy="839534"/>
          </a:xfrm>
        </p:spPr>
        <p:txBody>
          <a:bodyPr>
            <a:normAutofit fontScale="90000"/>
          </a:bodyPr>
          <a:lstStyle/>
          <a:p>
            <a:r>
              <a:rPr lang="pt-BR" sz="4400" b="1" dirty="0"/>
              <a:t>Gerenciamento de projetos de software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268760"/>
            <a:ext cx="9144819" cy="6309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É o planejamento e acompanhamento dos recursos necessários para realizar um projeto.</a:t>
            </a:r>
          </a:p>
          <a:p>
            <a:endParaRPr lang="pt-BR" sz="36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40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E12329-284E-AD89-8D36-7EECA5D2A808}"/>
              </a:ext>
            </a:extLst>
          </p:cNvPr>
          <p:cNvSpPr txBox="1"/>
          <p:nvPr/>
        </p:nvSpPr>
        <p:spPr>
          <a:xfrm>
            <a:off x="256181" y="2771337"/>
            <a:ext cx="768680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Envolve:</a:t>
            </a:r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Escopo:</a:t>
            </a:r>
            <a:r>
              <a:rPr lang="pt-BR" sz="2000" dirty="0"/>
              <a:t> o que será desenvolvido;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Prazo:</a:t>
            </a:r>
            <a:r>
              <a:rPr lang="pt-BR" sz="2000" dirty="0"/>
              <a:t> quando as atividades devem ser concluídas;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Custo:</a:t>
            </a:r>
            <a:r>
              <a:rPr lang="pt-BR" sz="2000" dirty="0"/>
              <a:t> recursos financeiros envolvidos;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Recursos:</a:t>
            </a:r>
            <a:r>
              <a:rPr lang="pt-BR" sz="2000" dirty="0"/>
              <a:t> pessoas, ferramentas e infraestrutura;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Riscos:</a:t>
            </a:r>
            <a:r>
              <a:rPr lang="pt-BR" sz="2000" dirty="0"/>
              <a:t> possíveis problemas e seus impactos;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Qualidade:</a:t>
            </a:r>
            <a:r>
              <a:rPr lang="pt-BR" sz="2000" dirty="0"/>
              <a:t> critérios para avaliar o produto;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Comunicação:</a:t>
            </a:r>
            <a:r>
              <a:rPr lang="pt-BR" sz="2000" dirty="0"/>
              <a:t> circulação de informações entre as partes envolvidas.</a:t>
            </a:r>
            <a:endParaRPr lang="pt-BR" dirty="0"/>
          </a:p>
        </p:txBody>
      </p:sp>
      <p:pic>
        <p:nvPicPr>
          <p:cNvPr id="4098" name="Picture 2" descr="Plano de gerenciamento de projeto de software | Download Scientific Diagram">
            <a:extLst>
              <a:ext uri="{FF2B5EF4-FFF2-40B4-BE49-F238E27FC236}">
                <a16:creationId xmlns:a16="http://schemas.microsoft.com/office/drawing/2014/main" id="{A3518D37-0993-B743-A39E-C4B11B8A8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087" y="1980846"/>
            <a:ext cx="3377732" cy="2896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67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908720"/>
            <a:ext cx="9396536" cy="6552728"/>
          </a:xfrm>
        </p:spPr>
        <p:txBody>
          <a:bodyPr>
            <a:normAutofit fontScale="32500" lnSpcReduction="20000"/>
          </a:bodyPr>
          <a:lstStyle/>
          <a:p>
            <a:r>
              <a:rPr lang="pt-BR" sz="5500" b="1" dirty="0"/>
              <a:t>Planejamento</a:t>
            </a:r>
          </a:p>
          <a:p>
            <a:pPr marL="0" indent="0">
              <a:buNone/>
            </a:pPr>
            <a:r>
              <a:rPr lang="pt-BR" sz="5500" dirty="0"/>
              <a:t>      Definir o que será necessário para desenvolver o sistema;</a:t>
            </a:r>
          </a:p>
          <a:p>
            <a:pPr marL="0" indent="0">
              <a:buNone/>
            </a:pPr>
            <a:endParaRPr lang="pt-BR" sz="5500" dirty="0"/>
          </a:p>
          <a:p>
            <a:r>
              <a:rPr lang="pt-BR" sz="5500" b="1" dirty="0"/>
              <a:t>Equipe:</a:t>
            </a:r>
            <a:r>
              <a:rPr lang="pt-BR" sz="5500" dirty="0"/>
              <a:t> gerente de projeto, desenvolvedores, designer e responsável pelos testes;</a:t>
            </a:r>
          </a:p>
          <a:p>
            <a:endParaRPr lang="pt-BR" sz="5500" dirty="0"/>
          </a:p>
          <a:p>
            <a:r>
              <a:rPr lang="pt-BR" sz="5500" b="1" dirty="0"/>
              <a:t>Prazo:</a:t>
            </a:r>
            <a:r>
              <a:rPr lang="pt-BR" sz="5500" dirty="0"/>
              <a:t> 3 meses;</a:t>
            </a:r>
          </a:p>
          <a:p>
            <a:r>
              <a:rPr lang="pt-BR" sz="5500" b="1" dirty="0"/>
              <a:t>Orçamento:</a:t>
            </a:r>
            <a:r>
              <a:rPr lang="pt-BR" sz="5500" dirty="0"/>
              <a:t> R$ 30.000.</a:t>
            </a:r>
          </a:p>
          <a:p>
            <a:endParaRPr lang="pt-BR" sz="5500" dirty="0"/>
          </a:p>
          <a:p>
            <a:r>
              <a:rPr lang="pt-BR" sz="5500" b="1" dirty="0"/>
              <a:t>Tecnologias:</a:t>
            </a:r>
            <a:r>
              <a:rPr lang="pt-BR" sz="5500" dirty="0"/>
              <a:t> MySQL para o banco de dados e uma linguagem de programação para o sistema;</a:t>
            </a:r>
          </a:p>
          <a:p>
            <a:r>
              <a:rPr lang="pt-BR" sz="5500" b="1" dirty="0"/>
              <a:t>Recursos:</a:t>
            </a:r>
            <a:r>
              <a:rPr lang="pt-BR" sz="5500" dirty="0"/>
              <a:t> computadores, servidor e ferramentas de desenvolvimento;</a:t>
            </a:r>
          </a:p>
          <a:p>
            <a:endParaRPr lang="pt-BR" sz="5500" dirty="0"/>
          </a:p>
          <a:p>
            <a:r>
              <a:rPr lang="pt-BR" sz="5500" b="1" dirty="0"/>
              <a:t>Gerenciamento dos riscos</a:t>
            </a:r>
          </a:p>
          <a:p>
            <a:pPr marL="0" indent="0">
              <a:buNone/>
            </a:pPr>
            <a:r>
              <a:rPr lang="pt-BR" sz="5500" dirty="0"/>
              <a:t>      Atraso no desenvolvimento;</a:t>
            </a:r>
          </a:p>
          <a:p>
            <a:pPr marL="0" indent="0">
              <a:buNone/>
            </a:pPr>
            <a:r>
              <a:rPr lang="pt-BR" sz="5500" dirty="0"/>
              <a:t>      Erros no sistema;</a:t>
            </a:r>
          </a:p>
          <a:p>
            <a:pPr marL="0" indent="0">
              <a:buNone/>
            </a:pPr>
            <a:r>
              <a:rPr lang="pt-BR" sz="5500" dirty="0"/>
              <a:t>      Mudanças nos requisitos;</a:t>
            </a:r>
          </a:p>
          <a:p>
            <a:pPr marL="0" indent="0">
              <a:buNone/>
            </a:pPr>
            <a:r>
              <a:rPr lang="pt-BR" sz="5500" dirty="0"/>
              <a:t>      Para reduzir esses riscos, a equipe pode realizar </a:t>
            </a:r>
            <a:r>
              <a:rPr lang="pt-BR" sz="5500" b="1" dirty="0"/>
              <a:t>testes frequentes,        </a:t>
            </a:r>
          </a:p>
          <a:p>
            <a:pPr marL="0" indent="0">
              <a:buNone/>
            </a:pPr>
            <a:r>
              <a:rPr lang="pt-BR" sz="5500" b="1" dirty="0"/>
              <a:t>      backups, reuniões de acompanhamento e controle do cronograma;</a:t>
            </a:r>
          </a:p>
          <a:p>
            <a:pPr marL="0" indent="0">
              <a:buNone/>
            </a:pPr>
            <a:endParaRPr lang="pt-BR" sz="5500" dirty="0"/>
          </a:p>
          <a:p>
            <a:r>
              <a:rPr lang="pt-BR" sz="5500" b="1" dirty="0"/>
              <a:t>Entrega</a:t>
            </a:r>
          </a:p>
          <a:p>
            <a:pPr marL="0" indent="0">
              <a:buNone/>
            </a:pPr>
            <a:r>
              <a:rPr lang="pt-BR" sz="5500" dirty="0"/>
              <a:t>       Após o desenvolvimento e os testes, o sistema é instalado e disponibilizado para     </a:t>
            </a:r>
          </a:p>
          <a:p>
            <a:pPr marL="0" indent="0">
              <a:buNone/>
            </a:pPr>
            <a:r>
              <a:rPr lang="pt-BR" sz="5500" dirty="0"/>
              <a:t>       os funcionários da loja.</a:t>
            </a:r>
          </a:p>
          <a:p>
            <a:endParaRPr lang="pt-BR" dirty="0"/>
          </a:p>
          <a:p>
            <a:pPr marL="0" indent="0">
              <a:buNone/>
            </a:pPr>
            <a:endParaRPr lang="pt-BR" sz="2800" b="1" dirty="0"/>
          </a:p>
          <a:p>
            <a:pPr marL="0" indent="0">
              <a:buNone/>
            </a:pPr>
            <a:endParaRPr lang="pt-BR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91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08520" y="230833"/>
            <a:ext cx="9144819" cy="839534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Processo de desenvolvimento de software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-108520" y="1340768"/>
            <a:ext cx="9276456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800" dirty="0"/>
              <a:t>Um processo de desenvolvimento define </a:t>
            </a:r>
            <a:r>
              <a:rPr lang="pt-BR" sz="2800" b="1" dirty="0"/>
              <a:t>como o trabalho será organizado</a:t>
            </a:r>
            <a:r>
              <a:rPr lang="pt-BR" sz="2800" dirty="0"/>
              <a:t> para produzir e manter um software.</a:t>
            </a:r>
          </a:p>
          <a:p>
            <a:pPr marL="0" indent="0" algn="ctr">
              <a:buNone/>
            </a:pPr>
            <a:r>
              <a:rPr lang="pt-BR" sz="2800" b="1" dirty="0"/>
              <a:t>Qual objetivo?</a:t>
            </a:r>
          </a:p>
          <a:p>
            <a:pPr marL="0" indent="0" algn="ctr">
              <a:buNone/>
            </a:pPr>
            <a:r>
              <a:rPr lang="pt-BR" sz="2400" dirty="0"/>
              <a:t>Tornar o desenvolvimento mais </a:t>
            </a:r>
            <a:r>
              <a:rPr lang="pt-BR" sz="2400" b="1" dirty="0"/>
              <a:t>organizado, previsível e controlável</a:t>
            </a:r>
            <a:r>
              <a:rPr lang="pt-BR" sz="2400" dirty="0"/>
              <a:t>, reduzindo riscos e aumentando a qualidade.</a:t>
            </a:r>
            <a:endParaRPr lang="pt-BR" sz="40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40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Gerenciamento de riscos: você sabe como deve fazer em um projeto?">
            <a:extLst>
              <a:ext uri="{FF2B5EF4-FFF2-40B4-BE49-F238E27FC236}">
                <a16:creationId xmlns:a16="http://schemas.microsoft.com/office/drawing/2014/main" id="{4076ECB4-E396-D364-528B-52960B228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933056"/>
            <a:ext cx="4386064" cy="228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48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/>
          <a:lstStyle/>
          <a:p>
            <a:r>
              <a:rPr lang="pt-BR" dirty="0"/>
              <a:t>Etapas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072" y="908720"/>
            <a:ext cx="9095928" cy="5839213"/>
          </a:xfrm>
        </p:spPr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pt-BR" sz="4400" b="1" dirty="0"/>
              <a:t>Levantamento de requisitos</a:t>
            </a:r>
            <a:r>
              <a:rPr lang="pt-BR" sz="4400" dirty="0"/>
              <a:t> — entender as necessidades dos usuários;</a:t>
            </a:r>
          </a:p>
          <a:p>
            <a:pPr>
              <a:buFont typeface="+mj-lt"/>
              <a:buAutoNum type="arabicPeriod"/>
            </a:pPr>
            <a:r>
              <a:rPr lang="pt-BR" sz="4400" b="1" dirty="0"/>
              <a:t>Análise</a:t>
            </a:r>
            <a:r>
              <a:rPr lang="pt-BR" sz="4400" dirty="0"/>
              <a:t> — estudar os requisitos e definir o que o sistema deverá fazer;</a:t>
            </a:r>
          </a:p>
          <a:p>
            <a:pPr>
              <a:buFont typeface="+mj-lt"/>
              <a:buAutoNum type="arabicPeriod"/>
            </a:pPr>
            <a:r>
              <a:rPr lang="pt-BR" sz="4400" b="1" dirty="0"/>
              <a:t>Projeto (design)</a:t>
            </a:r>
            <a:r>
              <a:rPr lang="pt-BR" sz="4400" dirty="0"/>
              <a:t> — definir componentes, banco de dados e interfaces;</a:t>
            </a:r>
          </a:p>
          <a:p>
            <a:pPr>
              <a:buFont typeface="+mj-lt"/>
              <a:buAutoNum type="arabicPeriod"/>
            </a:pPr>
            <a:r>
              <a:rPr lang="pt-BR" sz="4400" b="1" dirty="0"/>
              <a:t>Implementação</a:t>
            </a:r>
            <a:r>
              <a:rPr lang="pt-BR" sz="4400" dirty="0"/>
              <a:t> — desenvolver o software;</a:t>
            </a:r>
          </a:p>
          <a:p>
            <a:pPr>
              <a:buFont typeface="+mj-lt"/>
              <a:buAutoNum type="arabicPeriod"/>
            </a:pPr>
            <a:r>
              <a:rPr lang="pt-BR" sz="4400" b="1" dirty="0"/>
              <a:t>Testes</a:t>
            </a:r>
            <a:r>
              <a:rPr lang="pt-BR" sz="4400" dirty="0"/>
              <a:t> — verificar se o sistema funciona corretamente e atende aos requisitos;</a:t>
            </a:r>
          </a:p>
          <a:p>
            <a:pPr>
              <a:buFont typeface="+mj-lt"/>
              <a:buAutoNum type="arabicPeriod"/>
            </a:pPr>
            <a:r>
              <a:rPr lang="pt-BR" sz="4400" b="1" dirty="0"/>
              <a:t>Implantação</a:t>
            </a:r>
            <a:r>
              <a:rPr lang="pt-BR" sz="4400" dirty="0"/>
              <a:t> — colocar o sistema em funcionamento;</a:t>
            </a:r>
          </a:p>
          <a:p>
            <a:pPr>
              <a:buFont typeface="+mj-lt"/>
              <a:buAutoNum type="arabicPeriod"/>
            </a:pPr>
            <a:r>
              <a:rPr lang="pt-BR" sz="4400" b="1" dirty="0"/>
              <a:t>Manutenção</a:t>
            </a:r>
            <a:r>
              <a:rPr lang="pt-BR" sz="4400" dirty="0"/>
              <a:t> — corrigir problemas e realizar melhorias.</a:t>
            </a:r>
          </a:p>
          <a:p>
            <a:pPr marL="0" indent="0">
              <a:buNone/>
            </a:pPr>
            <a:endParaRPr lang="pt-BR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02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072" y="908720"/>
            <a:ext cx="9095928" cy="5839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/>
              <a:t>Sistema escolar</a:t>
            </a:r>
          </a:p>
          <a:p>
            <a:pPr marL="0" indent="0">
              <a:buNone/>
            </a:pPr>
            <a:r>
              <a:rPr lang="pt-BR" sz="2800" dirty="0"/>
              <a:t>Uma escola quer um sistema para controlar notas e frequência.</a:t>
            </a:r>
          </a:p>
          <a:p>
            <a:pPr marL="0" indent="0">
              <a:buNone/>
            </a:pPr>
            <a:r>
              <a:rPr lang="pt-BR" sz="2800" dirty="0"/>
              <a:t>O processo poderia envolver: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Requisitos:</a:t>
            </a:r>
            <a:r>
              <a:rPr lang="pt-BR" sz="2800" dirty="0"/>
              <a:t> cadastro de alunos, notas e frequência.;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Projeto:</a:t>
            </a:r>
            <a:r>
              <a:rPr lang="pt-BR" sz="2800" dirty="0"/>
              <a:t> definir banco de dados e telas;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Desenvolvimento:</a:t>
            </a:r>
            <a:r>
              <a:rPr lang="pt-BR" sz="2800" dirty="0"/>
              <a:t> programar o sistema;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Testes:</a:t>
            </a:r>
            <a:r>
              <a:rPr lang="pt-BR" sz="2800" dirty="0"/>
              <a:t> verificar cálculos de médias e registros;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Implantação:</a:t>
            </a:r>
            <a:r>
              <a:rPr lang="pt-BR" sz="2800" dirty="0"/>
              <a:t> disponibilizar o sistema para professores;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Manutenção:</a:t>
            </a:r>
            <a:r>
              <a:rPr lang="pt-BR" sz="2800" dirty="0"/>
              <a:t> corrigir erros e adicionar funcionalidades.</a:t>
            </a:r>
          </a:p>
          <a:p>
            <a:pPr marL="0" indent="0">
              <a:buNone/>
            </a:pPr>
            <a:endParaRPr lang="pt-BR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0"/>
            <a:ext cx="8229600" cy="4525963"/>
          </a:xfrm>
        </p:spPr>
        <p:txBody>
          <a:bodyPr/>
          <a:lstStyle/>
          <a:p>
            <a:pPr algn="just"/>
            <a:r>
              <a:rPr lang="pt-BR" dirty="0"/>
              <a:t>O ciclo de vida descreve as etapas pelas quais um sistema passa desde sua concepção até sua retirada de uso.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091966D-23E1-4F29-BD0A-64C9C1453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378687"/>
            <a:ext cx="3374355" cy="23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2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822"/>
            <a:ext cx="8229600" cy="839534"/>
          </a:xfrm>
        </p:spPr>
        <p:txBody>
          <a:bodyPr/>
          <a:lstStyle/>
          <a:p>
            <a:r>
              <a:rPr lang="pt-BR" dirty="0"/>
              <a:t>Modelos de ciclo de vida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3669A6F-93C3-4F9A-AC53-5FB8762A33F0}"/>
              </a:ext>
            </a:extLst>
          </p:cNvPr>
          <p:cNvSpPr/>
          <p:nvPr/>
        </p:nvSpPr>
        <p:spPr>
          <a:xfrm>
            <a:off x="1" y="931127"/>
            <a:ext cx="45719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Modelo Cascata (</a:t>
            </a:r>
            <a:r>
              <a:rPr lang="pt-BR" b="1" dirty="0" err="1"/>
              <a:t>Waterfall</a:t>
            </a:r>
            <a:r>
              <a:rPr lang="pt-BR" b="1" dirty="0"/>
              <a:t>)</a:t>
            </a:r>
          </a:p>
          <a:p>
            <a:r>
              <a:rPr lang="pt-BR" dirty="0"/>
              <a:t>Processo </a:t>
            </a:r>
            <a:r>
              <a:rPr lang="pt-BR" b="1" dirty="0"/>
              <a:t>linear e sequencial</a:t>
            </a:r>
            <a:r>
              <a:rPr lang="pt-BR" dirty="0"/>
              <a:t> </a:t>
            </a:r>
          </a:p>
          <a:p>
            <a:r>
              <a:rPr lang="pt-BR" dirty="0"/>
              <a:t>Cada fase só começa quando a anterior termina </a:t>
            </a:r>
          </a:p>
          <a:p>
            <a:pPr algn="just"/>
            <a:r>
              <a:rPr lang="pt-BR" dirty="0"/>
              <a:t>Um exemplo clássico é o desenvolvimento de sistemas bancários ou software </a:t>
            </a:r>
          </a:p>
          <a:p>
            <a:pPr algn="just"/>
            <a:r>
              <a:rPr lang="pt-BR" dirty="0"/>
              <a:t>embarcado (firmware).</a:t>
            </a:r>
          </a:p>
        </p:txBody>
      </p:sp>
      <p:pic>
        <p:nvPicPr>
          <p:cNvPr id="1026" name="Picture 2" descr="Modelo Cascata ou Modelo Incremental? Comparação e Benefícios">
            <a:extLst>
              <a:ext uri="{FF2B5EF4-FFF2-40B4-BE49-F238E27FC236}">
                <a16:creationId xmlns:a16="http://schemas.microsoft.com/office/drawing/2014/main" id="{A52F36E2-9A1F-4497-81A7-A5D9DE81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30" y="3212976"/>
            <a:ext cx="3995936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E8E3EB6-CE09-AA6F-9913-AD0DFCAE95E4}"/>
              </a:ext>
            </a:extLst>
          </p:cNvPr>
          <p:cNvSpPr/>
          <p:nvPr/>
        </p:nvSpPr>
        <p:spPr>
          <a:xfrm>
            <a:off x="4563919" y="836712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/>
              <a:t>Modelo Ágil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Desenvolvimento </a:t>
            </a:r>
            <a:r>
              <a:rPr lang="pt-BR" b="1" dirty="0"/>
              <a:t>rápido e flexível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Foco em entregas frequentes e colaboração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Feedback constante;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Adaptação a mudanças;</a:t>
            </a:r>
          </a:p>
          <a:p>
            <a:r>
              <a:rPr lang="pt-BR" dirty="0"/>
              <a:t> </a:t>
            </a:r>
          </a:p>
        </p:txBody>
      </p:sp>
      <p:pic>
        <p:nvPicPr>
          <p:cNvPr id="7" name="Picture 2" descr="Metodologia Agile: guia com características, benefícios e como aplicar">
            <a:extLst>
              <a:ext uri="{FF2B5EF4-FFF2-40B4-BE49-F238E27FC236}">
                <a16:creationId xmlns:a16="http://schemas.microsoft.com/office/drawing/2014/main" id="{F387C81C-25E8-2D32-B489-11F030411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833397"/>
            <a:ext cx="3462743" cy="194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864B4D2-8415-1DC6-9E2C-7F7E665B946F}"/>
              </a:ext>
            </a:extLst>
          </p:cNvPr>
          <p:cNvSpPr txBox="1"/>
          <p:nvPr/>
        </p:nvSpPr>
        <p:spPr>
          <a:xfrm>
            <a:off x="4563919" y="2217296"/>
            <a:ext cx="458008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Uma empresa quer desenvolver um aplicativo para pedidos de comida. Em vez de desenvolver tudo de uma vez, a equipe divide o trabalho em pequenos ciclos chamados </a:t>
            </a:r>
            <a:r>
              <a:rPr lang="pt-BR" sz="1600" b="1" dirty="0"/>
              <a:t>sprints</a:t>
            </a:r>
            <a:r>
              <a:rPr lang="pt-BR" sz="1600" dirty="0"/>
              <a:t>.</a:t>
            </a:r>
          </a:p>
          <a:p>
            <a:r>
              <a:rPr lang="pt-BR" sz="1600" b="1" dirty="0"/>
              <a:t>Sprint 1: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Cadastro de usuários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Login </a:t>
            </a:r>
          </a:p>
          <a:p>
            <a:r>
              <a:rPr lang="pt-BR" sz="1600" b="1" dirty="0"/>
              <a:t>Sprint 2: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Lista de restaurantes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Busca de produtos</a:t>
            </a:r>
          </a:p>
        </p:txBody>
      </p:sp>
    </p:spTree>
    <p:extLst>
      <p:ext uri="{BB962C8B-B14F-4D97-AF65-F5344CB8AC3E}">
        <p14:creationId xmlns:p14="http://schemas.microsoft.com/office/powerpoint/2010/main" val="252462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08520" y="230833"/>
            <a:ext cx="9144819" cy="839534"/>
          </a:xfrm>
        </p:spPr>
        <p:txBody>
          <a:bodyPr>
            <a:normAutofit/>
          </a:bodyPr>
          <a:lstStyle/>
          <a:p>
            <a:r>
              <a:rPr lang="pt-BR" dirty="0"/>
              <a:t>Cultura </a:t>
            </a:r>
            <a:r>
              <a:rPr lang="pt-BR" dirty="0" err="1"/>
              <a:t>DevOps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1804" y="1092974"/>
            <a:ext cx="8700392" cy="6309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 err="1"/>
              <a:t>DevOps</a:t>
            </a:r>
            <a:r>
              <a:rPr lang="pt-BR" sz="2400" dirty="0"/>
              <a:t> combina práticas de desenvolvimento (</a:t>
            </a:r>
            <a:r>
              <a:rPr lang="pt-BR" sz="2400" b="1" dirty="0" err="1"/>
              <a:t>Development</a:t>
            </a:r>
            <a:r>
              <a:rPr lang="pt-BR" sz="2400" dirty="0"/>
              <a:t>) e operações (</a:t>
            </a:r>
            <a:r>
              <a:rPr lang="pt-BR" sz="2400" b="1" dirty="0" err="1"/>
              <a:t>Operations</a:t>
            </a:r>
            <a:r>
              <a:rPr lang="pt-BR" sz="2400" dirty="0"/>
              <a:t>).</a:t>
            </a:r>
          </a:p>
          <a:p>
            <a:pPr marL="0" indent="0">
              <a:buNone/>
            </a:pPr>
            <a:r>
              <a:rPr lang="pt-BR" sz="2400" dirty="0"/>
              <a:t>A ideia é aproximar as equipes responsáveis por desenvolver, testar, implantar e operar o software.</a:t>
            </a:r>
          </a:p>
          <a:p>
            <a:pPr marL="0" indent="0">
              <a:buNone/>
            </a:pPr>
            <a:endParaRPr lang="pt-BR" sz="24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40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O que é DevOps? Como funciona e seus benefícios | Wevy">
            <a:extLst>
              <a:ext uri="{FF2B5EF4-FFF2-40B4-BE49-F238E27FC236}">
                <a16:creationId xmlns:a16="http://schemas.microsoft.com/office/drawing/2014/main" id="{950986C9-116E-92F4-9543-04E164A11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065" y="3140968"/>
            <a:ext cx="2867285" cy="286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4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5355" y="40828"/>
            <a:ext cx="9144819" cy="839534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764704"/>
            <a:ext cx="9276456" cy="63093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Exemplo  — Atualização de um aplicativo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Uma empresa precisa lançar uma nova funcionalidade em seu aplicativo.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Sem </a:t>
            </a:r>
            <a:r>
              <a:rPr lang="pt-BR" sz="2400" b="1" dirty="0" err="1"/>
              <a:t>DevOps</a:t>
            </a:r>
            <a:r>
              <a:rPr lang="pt-BR" sz="2400" b="1" dirty="0"/>
              <a:t>: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Desenvolvedores terminam o código → entregam para operações → operações encontram problemas → volta para os desenvolvedores → demora para corrigir.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Com </a:t>
            </a:r>
            <a:r>
              <a:rPr lang="pt-BR" sz="2400" b="1" dirty="0" err="1"/>
              <a:t>DevOps</a:t>
            </a:r>
            <a:r>
              <a:rPr lang="pt-BR" sz="2400" b="1" dirty="0"/>
              <a:t>: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Desenvolvimento + Testes automatizados + Implantação automatizada + Monitoramento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A equipe trabalha em conjunto e utiliza automação para testar e disponibilizar a nova versão.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40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98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08520" y="230833"/>
            <a:ext cx="9144819" cy="839534"/>
          </a:xfrm>
        </p:spPr>
        <p:txBody>
          <a:bodyPr>
            <a:normAutofit/>
          </a:bodyPr>
          <a:lstStyle/>
          <a:p>
            <a:r>
              <a:rPr lang="pt-BR" dirty="0"/>
              <a:t>Segurança da informação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340768"/>
            <a:ext cx="8844408" cy="6309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Busca proteger informações e sistemas contra acesso, alteração, destruição ou divulgação indevidos.</a:t>
            </a:r>
            <a:endParaRPr lang="pt-BR" sz="40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40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Os Três Pilares da Segurança da Informação: Confidencialidade, Integridade  e Disponibilidade - Iceberg Security">
            <a:extLst>
              <a:ext uri="{FF2B5EF4-FFF2-40B4-BE49-F238E27FC236}">
                <a16:creationId xmlns:a16="http://schemas.microsoft.com/office/drawing/2014/main" id="{5B3E7144-A3A5-6EE2-B206-E95794C85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852936"/>
            <a:ext cx="5148064" cy="289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20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08520" y="230833"/>
            <a:ext cx="9144819" cy="839534"/>
          </a:xfrm>
        </p:spPr>
        <p:txBody>
          <a:bodyPr>
            <a:normAutofit/>
          </a:bodyPr>
          <a:lstStyle/>
          <a:p>
            <a:r>
              <a:rPr lang="pt-BR" dirty="0"/>
              <a:t>Segurança da informação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ADFBF122-8507-485C-DEFD-6158ABF6B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896361"/>
              </p:ext>
            </p:extLst>
          </p:nvPr>
        </p:nvGraphicFramePr>
        <p:xfrm>
          <a:off x="457200" y="157805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92884801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968800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Princípio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70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Confidencialidade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Somente pessoas autorizadas devem acessar a informação.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240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Integridade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 informação deve permanecer correta e não ser alterada indevidamente.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3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Disponibilidade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informação deve estar disponível quando necessária.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75993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390F1FD-DE7D-4ADF-B033-A2631C38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E8B5C2-8256-2362-9D02-D46692C54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53361"/>
            <a:ext cx="74888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três princípios fundamentais são conhecidos como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Tríade CIA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9411DF-8D88-CED2-4591-C71DBEA3EA6B}"/>
              </a:ext>
            </a:extLst>
          </p:cNvPr>
          <p:cNvSpPr txBox="1"/>
          <p:nvPr/>
        </p:nvSpPr>
        <p:spPr>
          <a:xfrm>
            <a:off x="1403648" y="4041844"/>
            <a:ext cx="54456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Exemplos de mecanismos de segurança: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Autenticação;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Autorização e controle de acesso;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Criptografia;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Backups;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Antivírus e mecanismos de proteção;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Atualizações e correções de segurança;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Monitoramento e registro de eventos.</a:t>
            </a:r>
          </a:p>
        </p:txBody>
      </p:sp>
    </p:spTree>
    <p:extLst>
      <p:ext uri="{BB962C8B-B14F-4D97-AF65-F5344CB8AC3E}">
        <p14:creationId xmlns:p14="http://schemas.microsoft.com/office/powerpoint/2010/main" val="213228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073008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Atividade I de processo de desenvolvimento de software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6024" y="1143000"/>
            <a:ext cx="8640960" cy="44462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Em Dupla, </a:t>
            </a:r>
          </a:p>
          <a:p>
            <a:pPr marL="0" indent="0">
              <a:buNone/>
            </a:pPr>
            <a:r>
              <a:rPr lang="pt-BR" dirty="0"/>
              <a:t>Escolher um sistema para aplicativo ou web e criar as etapas: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1.Escopo;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2.Prazo;</a:t>
            </a:r>
            <a:r>
              <a:rPr lang="pt-BR" dirty="0"/>
              <a:t>  </a:t>
            </a:r>
          </a:p>
          <a:p>
            <a:pPr marL="0" indent="0">
              <a:buNone/>
            </a:pPr>
            <a:r>
              <a:rPr lang="pt-BR" b="1" dirty="0"/>
              <a:t>3.Custo;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b="1" dirty="0"/>
              <a:t>4.Recursos;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b="1" dirty="0"/>
              <a:t>5.Riscos;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6.Qualidade.</a:t>
            </a:r>
            <a:r>
              <a:rPr lang="pt-BR" dirty="0"/>
              <a:t> </a:t>
            </a:r>
          </a:p>
          <a:p>
            <a:pPr marL="0" indent="0">
              <a:buNone/>
            </a:pP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5995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073008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Atividade II de processo de desenvolvimento de software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6024" y="1143000"/>
            <a:ext cx="8640960" cy="444624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Levantamento de requisitos;</a:t>
            </a:r>
            <a:r>
              <a:rPr lang="pt-BR" dirty="0"/>
              <a:t> 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Análise;</a:t>
            </a:r>
            <a:r>
              <a:rPr lang="pt-BR" dirty="0"/>
              <a:t> 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Projeto (design);</a:t>
            </a:r>
            <a:r>
              <a:rPr lang="pt-BR" dirty="0"/>
              <a:t> 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Implementação;</a:t>
            </a:r>
            <a:r>
              <a:rPr lang="pt-BR" dirty="0"/>
              <a:t> 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Testes;</a:t>
            </a:r>
            <a:r>
              <a:rPr lang="pt-BR" dirty="0"/>
              <a:t> 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Implantação</a:t>
            </a:r>
            <a:r>
              <a:rPr lang="pt-BR" dirty="0"/>
              <a:t>;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Manutenção;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Modelo do ciclo;</a:t>
            </a:r>
          </a:p>
          <a:p>
            <a:pPr marL="0" indent="0">
              <a:buNone/>
            </a:pPr>
            <a:r>
              <a:rPr lang="pt-BR" b="1" dirty="0"/>
              <a:t>9.  Segurança da informação – Confidencialidade, integridade, disponibilidade,</a:t>
            </a:r>
            <a:r>
              <a:rPr lang="pt-BR" dirty="0"/>
              <a:t> </a:t>
            </a:r>
            <a:r>
              <a:rPr lang="pt-BR" b="1" dirty="0"/>
              <a:t>autenticação</a:t>
            </a:r>
            <a:r>
              <a:rPr lang="pt-BR" dirty="0"/>
              <a:t>, </a:t>
            </a:r>
            <a:r>
              <a:rPr lang="pt-BR" b="1" dirty="0"/>
              <a:t>autorização e controle de acesso, criptografia, backups, antivírus e mecanismos de proteção, atualizações e correções de segurança, monitoramento e registro de eventos.</a:t>
            </a:r>
          </a:p>
          <a:p>
            <a:endParaRPr lang="pt-BR" b="1" dirty="0"/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1987077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3755</TotalTime>
  <Words>851</Words>
  <Application>Microsoft Office PowerPoint</Application>
  <PresentationFormat>Apresentação na tela (4:3)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Tema do Office</vt:lpstr>
      <vt:lpstr>Gerenciamento de projetos de software</vt:lpstr>
      <vt:lpstr>Exemplo</vt:lpstr>
      <vt:lpstr>Processo de desenvolvimento de software</vt:lpstr>
      <vt:lpstr>Etapas</vt:lpstr>
      <vt:lpstr>Exemplo</vt:lpstr>
      <vt:lpstr>Ciclo de vida</vt:lpstr>
      <vt:lpstr>Modelos de ciclo de vida </vt:lpstr>
      <vt:lpstr>Cultura DevOps</vt:lpstr>
      <vt:lpstr>Exemplo</vt:lpstr>
      <vt:lpstr>Segurança da informação</vt:lpstr>
      <vt:lpstr>Segurança da informação</vt:lpstr>
      <vt:lpstr>Atividade I de processo de desenvolvimento de software</vt:lpstr>
      <vt:lpstr>Atividade II de processo de desenvolvimento de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SISTEMAS.</dc:title>
  <dc:creator>Thunde</dc:creator>
  <cp:lastModifiedBy>Lab04</cp:lastModifiedBy>
  <cp:revision>118</cp:revision>
  <dcterms:created xsi:type="dcterms:W3CDTF">2024-02-18T03:16:46Z</dcterms:created>
  <dcterms:modified xsi:type="dcterms:W3CDTF">2026-09-30T01:02:01Z</dcterms:modified>
</cp:coreProperties>
</file>