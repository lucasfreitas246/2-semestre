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9" r:id="rId2"/>
    <p:sldId id="268" r:id="rId3"/>
    <p:sldId id="274" r:id="rId4"/>
    <p:sldId id="273" r:id="rId5"/>
    <p:sldId id="257" r:id="rId6"/>
    <p:sldId id="260" r:id="rId7"/>
    <p:sldId id="261" r:id="rId8"/>
    <p:sldId id="258" r:id="rId9"/>
    <p:sldId id="259" r:id="rId10"/>
    <p:sldId id="262" r:id="rId11"/>
    <p:sldId id="263" r:id="rId12"/>
    <p:sldId id="276" r:id="rId13"/>
    <p:sldId id="275" r:id="rId14"/>
    <p:sldId id="264" r:id="rId15"/>
    <p:sldId id="265" r:id="rId16"/>
    <p:sldId id="266" r:id="rId17"/>
    <p:sldId id="267" r:id="rId18"/>
    <p:sldId id="277" r:id="rId19"/>
    <p:sldId id="271" r:id="rId20"/>
    <p:sldId id="272" r:id="rId21"/>
    <p:sldId id="270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525B6-A0B1-42E7-9844-C4C4B004A86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A44BB-A6C7-4BD5-B77F-EB23B858FB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7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3055-7FB1-49F9-829D-8256351319EA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4906-6E26-4D39-A19E-F3BE03C66C16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1A24-6266-4409-A94F-A5D58D3A6D16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AA67-96FB-49D5-AE81-36677CDF4798}" type="datetime1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D97A-8641-4B5E-8A90-A63614999F53}" type="datetime1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99FC-84FB-4AFA-96E8-B73D44A42646}" type="datetime1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BB3A-60EB-40C9-BB72-ED55616D3936}" type="datetime1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F3CA-7C5F-4282-96E5-D6DEB43A18CD}" type="datetime1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2C7E-A8DC-4111-8BFA-C98326566BA9}" type="datetime1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16D9-E4D8-4EE7-B7E9-1C798B453E68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40910-E6F2-422C-A81B-9EA12061FC2A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65000"/>
                <a:alpha val="70000"/>
              </a:schemeClr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14B4-947C-42A4-84E0-480F8694DF1E}" type="datetime1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s.mysql.com/archives/workbench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br/big-data/what-is-big-dat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3752" y="2636912"/>
            <a:ext cx="8229600" cy="1143000"/>
          </a:xfrm>
        </p:spPr>
        <p:txBody>
          <a:bodyPr>
            <a:normAutofit/>
          </a:bodyPr>
          <a:lstStyle/>
          <a:p>
            <a:r>
              <a:rPr lang="pt-BR" sz="3600" dirty="0"/>
              <a:t>Fundamentos de SQL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807026"/>
            <a:ext cx="8229600" cy="541180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/>
              <a:t>O </a:t>
            </a:r>
            <a:r>
              <a:rPr lang="pt-BR" b="1" dirty="0"/>
              <a:t>SQL (</a:t>
            </a:r>
            <a:r>
              <a:rPr lang="pt-BR" b="1" dirty="0" err="1"/>
              <a:t>Structured</a:t>
            </a:r>
            <a:r>
              <a:rPr lang="pt-BR" b="1" dirty="0"/>
              <a:t> Query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 começou a ser desenvolvido na década de </a:t>
            </a:r>
            <a:r>
              <a:rPr lang="pt-BR" b="1" dirty="0"/>
              <a:t>1970</a:t>
            </a:r>
            <a:r>
              <a:rPr lang="pt-BR" dirty="0"/>
              <a:t> pela empresa IBM.</a:t>
            </a:r>
          </a:p>
          <a:p>
            <a:pPr marL="0" indent="0" algn="just">
              <a:buNone/>
            </a:pPr>
            <a:endParaRPr lang="pt-BR" b="1" dirty="0"/>
          </a:p>
          <a:p>
            <a:pPr algn="just"/>
            <a:r>
              <a:rPr lang="pt-BR" b="1" dirty="0"/>
              <a:t>SQL (</a:t>
            </a:r>
            <a:r>
              <a:rPr lang="pt-BR" b="1" dirty="0" err="1"/>
              <a:t>Structured</a:t>
            </a:r>
            <a:r>
              <a:rPr lang="pt-BR" b="1" dirty="0"/>
              <a:t> Query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 é a linguagem padrão usada para </a:t>
            </a:r>
            <a:r>
              <a:rPr lang="pt-BR" b="1" dirty="0"/>
              <a:t>criar, consultar, alterar e gerenciar bancos de dados relacionais</a:t>
            </a:r>
            <a:r>
              <a:rPr lang="pt-BR" dirty="0"/>
              <a:t>.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Em outras palavras, o SQL permite que você interaja com um banco de dados para armazenar, recuperar, atualizar e excluir informações.</a:t>
            </a:r>
          </a:p>
          <a:p>
            <a:pPr algn="just"/>
            <a:endParaRPr lang="pt-BR" b="1" dirty="0"/>
          </a:p>
          <a:p>
            <a:pPr algn="just"/>
            <a:r>
              <a:rPr lang="pt-BR" b="1" dirty="0"/>
              <a:t>Principais funções do SQL</a:t>
            </a:r>
          </a:p>
          <a:p>
            <a:pPr algn="just"/>
            <a:r>
              <a:rPr lang="pt-BR" b="1" dirty="0"/>
              <a:t>Consultar dados</a:t>
            </a:r>
            <a:r>
              <a:rPr lang="pt-BR" dirty="0"/>
              <a:t>: buscar informações específicas em tabelas;</a:t>
            </a:r>
          </a:p>
          <a:p>
            <a:pPr algn="just"/>
            <a:r>
              <a:rPr lang="pt-BR" b="1" dirty="0"/>
              <a:t>Inserir dados</a:t>
            </a:r>
            <a:r>
              <a:rPr lang="pt-BR" dirty="0"/>
              <a:t>: adicionar novos registros;</a:t>
            </a:r>
          </a:p>
          <a:p>
            <a:pPr algn="just"/>
            <a:r>
              <a:rPr lang="pt-BR" b="1" dirty="0"/>
              <a:t>Atualizar dados</a:t>
            </a:r>
            <a:r>
              <a:rPr lang="pt-BR" dirty="0"/>
              <a:t>: modificar registros existentes;</a:t>
            </a:r>
          </a:p>
          <a:p>
            <a:pPr algn="just"/>
            <a:r>
              <a:rPr lang="pt-BR" b="1" dirty="0"/>
              <a:t>Excluir dados</a:t>
            </a:r>
            <a:r>
              <a:rPr lang="pt-BR" dirty="0"/>
              <a:t>: remover registros;</a:t>
            </a:r>
          </a:p>
          <a:p>
            <a:pPr algn="just"/>
            <a:r>
              <a:rPr lang="pt-BR" b="1" dirty="0"/>
              <a:t>Criar e modificar estruturas</a:t>
            </a:r>
            <a:r>
              <a:rPr lang="pt-BR" dirty="0"/>
              <a:t>: criar tabelas, bancos de dados e definir relacionamentos.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547664" y="11266"/>
            <a:ext cx="5582103" cy="825446"/>
          </a:xfrm>
        </p:spPr>
        <p:txBody>
          <a:bodyPr>
            <a:normAutofit/>
          </a:bodyPr>
          <a:lstStyle/>
          <a:p>
            <a:r>
              <a:rPr lang="pt-BR" sz="3200" dirty="0"/>
              <a:t>Sobre o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807026"/>
            <a:ext cx="8229600" cy="54118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b="1" dirty="0"/>
              <a:t>Onde o SQL é utilizado?</a:t>
            </a:r>
          </a:p>
          <a:p>
            <a:r>
              <a:rPr lang="pt-BR" dirty="0"/>
              <a:t>O SQL é usado em diversos sistemas, como:</a:t>
            </a:r>
          </a:p>
          <a:p>
            <a:r>
              <a:rPr lang="pt-BR" dirty="0"/>
              <a:t>Sistemas bancários. </a:t>
            </a:r>
          </a:p>
          <a:p>
            <a:r>
              <a:rPr lang="pt-BR" dirty="0"/>
              <a:t>Lojas virtuais. </a:t>
            </a:r>
          </a:p>
          <a:p>
            <a:r>
              <a:rPr lang="pt-BR" dirty="0"/>
              <a:t>Aplicativos de gestão empresarial. </a:t>
            </a:r>
          </a:p>
          <a:p>
            <a:r>
              <a:rPr lang="pt-BR" dirty="0"/>
              <a:t>Redes sociais. </a:t>
            </a:r>
          </a:p>
          <a:p>
            <a:r>
              <a:rPr lang="pt-BR" dirty="0"/>
              <a:t>Sistemas de cadastro e controle.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Alguns bancos de dados que utilizam SQL são:</a:t>
            </a:r>
          </a:p>
          <a:p>
            <a:r>
              <a:rPr lang="pt-BR" dirty="0"/>
              <a:t>MySQL </a:t>
            </a:r>
          </a:p>
          <a:p>
            <a:r>
              <a:rPr lang="pt-BR" dirty="0"/>
              <a:t>PostgreSQL </a:t>
            </a:r>
          </a:p>
          <a:p>
            <a:r>
              <a:rPr lang="pt-BR" dirty="0"/>
              <a:t>SQL Server </a:t>
            </a:r>
          </a:p>
          <a:p>
            <a:r>
              <a:rPr lang="pt-BR" dirty="0"/>
              <a:t>Oracle </a:t>
            </a:r>
            <a:r>
              <a:rPr lang="pt-BR" dirty="0" err="1"/>
              <a:t>Database</a:t>
            </a:r>
            <a:r>
              <a:rPr lang="pt-BR" dirty="0"/>
              <a:t> </a:t>
            </a:r>
          </a:p>
          <a:p>
            <a:r>
              <a:rPr lang="pt-BR" dirty="0" err="1"/>
              <a:t>SQLite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547664" y="11266"/>
            <a:ext cx="5582103" cy="825446"/>
          </a:xfrm>
        </p:spPr>
        <p:txBody>
          <a:bodyPr>
            <a:normAutofit/>
          </a:bodyPr>
          <a:lstStyle/>
          <a:p>
            <a:r>
              <a:rPr lang="pt-BR" sz="3200" dirty="0"/>
              <a:t>Sobre o SQL</a:t>
            </a:r>
          </a:p>
        </p:txBody>
      </p:sp>
    </p:spTree>
    <p:extLst>
      <p:ext uri="{BB962C8B-B14F-4D97-AF65-F5344CB8AC3E}">
        <p14:creationId xmlns:p14="http://schemas.microsoft.com/office/powerpoint/2010/main" val="199046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071678"/>
            <a:ext cx="8229600" cy="3114684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A linguagem SQL utilizada no Sistema Gerenciador de Banco de Dados (SGBD) relacional, é composta por seis subconjuntos ou grupos de comandos que formam  a estrutura básica das instruções.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98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de </a:t>
            </a:r>
            <a:r>
              <a:rPr lang="pt-BR" dirty="0" err="1"/>
              <a:t>sql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DDL (Data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).</a:t>
            </a:r>
          </a:p>
          <a:p>
            <a:r>
              <a:rPr lang="pt-BR" dirty="0"/>
              <a:t>DML (Data Manipulation </a:t>
            </a:r>
            <a:r>
              <a:rPr lang="pt-BR" dirty="0" err="1"/>
              <a:t>Language</a:t>
            </a:r>
            <a:r>
              <a:rPr lang="pt-BR" dirty="0"/>
              <a:t>).</a:t>
            </a:r>
          </a:p>
          <a:p>
            <a:r>
              <a:rPr lang="pt-BR" dirty="0"/>
              <a:t>DQL (Data Query Languge)</a:t>
            </a:r>
          </a:p>
          <a:p>
            <a:r>
              <a:rPr lang="pt-PT" dirty="0"/>
              <a:t>DCL (Data Control Language)</a:t>
            </a:r>
          </a:p>
          <a:p>
            <a:r>
              <a:rPr lang="pt-BR" dirty="0"/>
              <a:t>SRC (Stored Routines Commands)</a:t>
            </a:r>
          </a:p>
          <a:p>
            <a:r>
              <a:rPr lang="pt-BR" dirty="0"/>
              <a:t>DTC (Data Type Commands)</a:t>
            </a:r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5</a:t>
            </a:fld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Definition Language</a:t>
            </a:r>
            <a:br>
              <a:rPr lang="pt-BR" sz="3200" dirty="0"/>
            </a:br>
            <a:r>
              <a:rPr lang="pt-BR" sz="3200" dirty="0"/>
              <a:t>(Linguagem de Definição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714620"/>
            <a:ext cx="8229600" cy="2185990"/>
          </a:xfrm>
        </p:spPr>
        <p:txBody>
          <a:bodyPr/>
          <a:lstStyle/>
          <a:p>
            <a:pPr algn="ctr">
              <a:buNone/>
            </a:pPr>
            <a:r>
              <a:rPr lang="pt-BR" dirty="0"/>
              <a:t>Usada para a definição dos dados.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Este subconjunto de comandos oferece recursos para o trabalho de definição e controle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6</a:t>
            </a:fld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Definition Language</a:t>
            </a:r>
            <a:br>
              <a:rPr lang="pt-BR" sz="3200" dirty="0"/>
            </a:br>
            <a:r>
              <a:rPr lang="pt-BR" sz="3200" dirty="0"/>
              <a:t>(Linguagem de Definição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ALTER TABLE;</a:t>
            </a:r>
          </a:p>
          <a:p>
            <a:r>
              <a:rPr lang="pt-BR" dirty="0"/>
              <a:t>CREATE DATABASE;</a:t>
            </a:r>
          </a:p>
          <a:p>
            <a:r>
              <a:rPr lang="pt-BR" dirty="0"/>
              <a:t>CREATE TABLE;</a:t>
            </a:r>
          </a:p>
          <a:p>
            <a:r>
              <a:rPr lang="pt-BR" dirty="0"/>
              <a:t>DROP DATABASE;</a:t>
            </a:r>
          </a:p>
          <a:p>
            <a:r>
              <a:rPr lang="pt-BR" dirty="0"/>
              <a:t>DROP TABLE.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Manipulation Language</a:t>
            </a:r>
            <a:br>
              <a:rPr lang="pt-BR" sz="3200" dirty="0"/>
            </a:br>
            <a:r>
              <a:rPr lang="pt-BR" sz="3200" dirty="0"/>
              <a:t>(Linguagem de Manipulação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285992"/>
            <a:ext cx="8229600" cy="2686056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Usada para a manipulação dos dados.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Este subconjunto tem por finalidade oferecer recursos para o gerenciamento dos bancos de dados, e manipulação dos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8</a:t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Manipulation Language</a:t>
            </a:r>
            <a:br>
              <a:rPr lang="pt-BR" sz="3200" dirty="0"/>
            </a:br>
            <a:r>
              <a:rPr lang="pt-BR" sz="3200" dirty="0"/>
              <a:t>(Linguagem de Manipulação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DELETE</a:t>
            </a:r>
          </a:p>
          <a:p>
            <a:r>
              <a:rPr lang="pt-BR" dirty="0"/>
              <a:t>INSERT</a:t>
            </a:r>
          </a:p>
          <a:p>
            <a:r>
              <a:rPr lang="pt-BR" dirty="0"/>
              <a:t>SELECT</a:t>
            </a:r>
          </a:p>
          <a:p>
            <a:r>
              <a:rPr lang="pt-BR" dirty="0"/>
              <a:t>JOIN</a:t>
            </a:r>
          </a:p>
          <a:p>
            <a:r>
              <a:rPr lang="pt-BR" dirty="0"/>
              <a:t>UPDATE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Query Language</a:t>
            </a:r>
            <a:br>
              <a:rPr lang="pt-BR" sz="3200" dirty="0"/>
            </a:br>
            <a:r>
              <a:rPr lang="pt-BR" sz="3200" dirty="0"/>
              <a:t>(Linguagem de Pesquisa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dirty="0"/>
              <a:t>Usada para pesquisar dados.</a:t>
            </a:r>
          </a:p>
          <a:p>
            <a:pPr marL="0" indent="0" algn="ctr">
              <a:buNone/>
            </a:pPr>
            <a:r>
              <a:rPr lang="pt-BR" dirty="0"/>
              <a:t>É formada apenas pelo comando SELECT,  que também é considerado por alguns autores um comando do subconjunto Data Manipulation Language, por ser utilizado em conjunto com outros comandos DML. No entanto, a grande maioria dos profissionais de mercado classifica o SELECT como um comando DQL.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10</a:t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Stored Routines Commands</a:t>
            </a:r>
            <a:br>
              <a:rPr lang="pt-BR" sz="3200" dirty="0"/>
            </a:br>
            <a:r>
              <a:rPr lang="pt-BR" sz="3200" dirty="0"/>
              <a:t>(Comandos de Rotinas Armazenadas)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158" y="2285992"/>
            <a:ext cx="8229600" cy="2185990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Este subconjunto de comandos permite o uso de códigos de sub-rotinas armazenadas dentro do sistema.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11</a:t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Stored Routines Commands</a:t>
            </a:r>
            <a:br>
              <a:rPr lang="pt-BR" sz="3200" dirty="0"/>
            </a:br>
            <a:r>
              <a:rPr lang="pt-BR" sz="3200" dirty="0"/>
              <a:t>(Comandos de Rotinas Armazenadas)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ALTER FUNCTION</a:t>
            </a:r>
          </a:p>
          <a:p>
            <a:r>
              <a:rPr lang="pt-BR" dirty="0"/>
              <a:t>ALTER PROCEDURE</a:t>
            </a:r>
          </a:p>
          <a:p>
            <a:r>
              <a:rPr lang="pt-BR" dirty="0"/>
              <a:t>EXEC</a:t>
            </a:r>
          </a:p>
          <a:p>
            <a:r>
              <a:rPr lang="pt-BR" dirty="0"/>
              <a:t>CREATE FUNCTION</a:t>
            </a:r>
          </a:p>
          <a:p>
            <a:r>
              <a:rPr lang="pt-BR" dirty="0"/>
              <a:t>CREATE PROCEDURE</a:t>
            </a:r>
          </a:p>
          <a:p>
            <a:r>
              <a:rPr lang="pt-BR" dirty="0"/>
              <a:t>DROP FUNCTION</a:t>
            </a:r>
          </a:p>
          <a:p>
            <a:r>
              <a:rPr lang="pt-BR" dirty="0"/>
              <a:t>DROP PROCEDURE</a:t>
            </a:r>
          </a:p>
          <a:p>
            <a:r>
              <a:rPr lang="pt-BR" dirty="0"/>
              <a:t>ELSE</a:t>
            </a:r>
          </a:p>
          <a:p>
            <a:r>
              <a:rPr lang="pt-BR" dirty="0"/>
              <a:t>END</a:t>
            </a:r>
          </a:p>
          <a:p>
            <a:r>
              <a:rPr lang="pt-BR" dirty="0"/>
              <a:t>IF</a:t>
            </a:r>
          </a:p>
          <a:p>
            <a:r>
              <a:rPr lang="pt-BR" dirty="0"/>
              <a:t>WHILE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0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CONTROL LANGUAGE</a:t>
            </a:r>
            <a:br>
              <a:rPr lang="pt-BR" sz="3200" dirty="0"/>
            </a:br>
            <a:r>
              <a:rPr lang="pt-BR" sz="3200" dirty="0"/>
              <a:t>(Linguagem de Controle de Acesso)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158" y="2285992"/>
            <a:ext cx="8229600" cy="218599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DCL (Data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é o conjunto de comandos SQL utilizado para controlar o acesso e as permissões dos usuários em um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684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CONTROL LANGUAGE</a:t>
            </a:r>
            <a:br>
              <a:rPr lang="pt-BR" sz="3200" dirty="0"/>
            </a:br>
            <a:r>
              <a:rPr lang="pt-BR" sz="3200" dirty="0"/>
              <a:t>(Linguagem de Controle de Acesso)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600200"/>
            <a:ext cx="8229600" cy="1612776"/>
          </a:xfrm>
        </p:spPr>
        <p:txBody>
          <a:bodyPr>
            <a:normAutofit/>
          </a:bodyPr>
          <a:lstStyle/>
          <a:p>
            <a:r>
              <a:rPr lang="pt-BR" dirty="0"/>
              <a:t>GRANT;</a:t>
            </a:r>
          </a:p>
          <a:p>
            <a:r>
              <a:rPr lang="pt-BR" dirty="0"/>
              <a:t>REVOKE.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14</a:t>
            </a:fld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Type Commands</a:t>
            </a:r>
            <a:br>
              <a:rPr lang="pt-BR" sz="3200" dirty="0"/>
            </a:br>
            <a:r>
              <a:rPr lang="pt-BR" sz="3200" dirty="0"/>
              <a:t>(Comandos de Tipos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500306"/>
            <a:ext cx="8229600" cy="2043114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Este subconjunto de comandos estabelece o tipo de dados que uma coluna (campo) guarda em uma determinada tabela (entidade).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Data Type Commands</a:t>
            </a:r>
            <a:br>
              <a:rPr lang="pt-BR" sz="3200" dirty="0"/>
            </a:br>
            <a:r>
              <a:rPr lang="pt-BR" sz="3200" dirty="0"/>
              <a:t>(Comandos de Tipos de Dados)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BIGINT</a:t>
            </a:r>
          </a:p>
          <a:p>
            <a:r>
              <a:rPr lang="pt-BR" dirty="0"/>
              <a:t>BIT</a:t>
            </a:r>
          </a:p>
          <a:p>
            <a:r>
              <a:rPr lang="pt-BR" dirty="0"/>
              <a:t>CHAR</a:t>
            </a:r>
          </a:p>
          <a:p>
            <a:r>
              <a:rPr lang="pt-BR" dirty="0"/>
              <a:t>DATETIME</a:t>
            </a:r>
          </a:p>
          <a:p>
            <a:r>
              <a:rPr lang="pt-BR" dirty="0"/>
              <a:t>DECIMAL</a:t>
            </a:r>
          </a:p>
          <a:p>
            <a:r>
              <a:rPr lang="pt-BR" dirty="0"/>
              <a:t>FLOAT</a:t>
            </a:r>
          </a:p>
          <a:p>
            <a:r>
              <a:rPr lang="pt-BR" dirty="0"/>
              <a:t>INT</a:t>
            </a:r>
          </a:p>
          <a:p>
            <a:r>
              <a:rPr lang="pt-BR" dirty="0"/>
              <a:t>SMALLINT</a:t>
            </a:r>
          </a:p>
          <a:p>
            <a:r>
              <a:rPr lang="pt-BR" dirty="0"/>
              <a:t>TEXT</a:t>
            </a:r>
          </a:p>
          <a:p>
            <a:r>
              <a:rPr lang="pt-BR" dirty="0"/>
              <a:t>TINYINT</a:t>
            </a:r>
          </a:p>
          <a:p>
            <a:r>
              <a:rPr lang="pt-BR" dirty="0"/>
              <a:t>VARCHAR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16</a:t>
            </a:fld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714356"/>
            <a:ext cx="8229600" cy="562612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3000" dirty="0"/>
              <a:t>A lista apresentada esta praticamente completa, nela se concentram os subconjuntos de comandos suportados e utilizados pelo SQL.</a:t>
            </a:r>
          </a:p>
          <a:p>
            <a:pPr>
              <a:buNone/>
            </a:pPr>
            <a:endParaRPr lang="pt-BR" sz="3000" dirty="0"/>
          </a:p>
          <a:p>
            <a:pPr>
              <a:buNone/>
            </a:pPr>
            <a:endParaRPr lang="pt-BR" sz="3000" dirty="0"/>
          </a:p>
          <a:p>
            <a:pPr algn="ctr">
              <a:buNone/>
            </a:pPr>
            <a:r>
              <a:rPr lang="pt-BR" sz="3000" dirty="0"/>
              <a:t>Além desses comandos há um conjunto de funções predefinidas e uma série de operadores que auxiliam as diversas ações que podem ser realizadas pelo programa.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17</a:t>
            </a:fld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MySQL</a:t>
            </a:r>
            <a:r>
              <a:rPr lang="pt-BR" dirty="0"/>
              <a:t> é um </a:t>
            </a:r>
            <a:r>
              <a:rPr lang="pt-BR" b="1" dirty="0"/>
              <a:t>Sistema de Gerenciamento de Banco de Dados Relacional (SGBDR)</a:t>
            </a:r>
            <a:r>
              <a:rPr lang="pt-BR" dirty="0"/>
              <a:t> que utiliza a linguagem </a:t>
            </a:r>
            <a:r>
              <a:rPr lang="pt-BR" b="1" dirty="0"/>
              <a:t>SQL (</a:t>
            </a:r>
            <a:r>
              <a:rPr lang="pt-BR" b="1" dirty="0" err="1"/>
              <a:t>Structured</a:t>
            </a:r>
            <a:r>
              <a:rPr lang="pt-BR" b="1" dirty="0"/>
              <a:t> Query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 para armazenar, organizar, consultar e gerenciar dados.</a:t>
            </a:r>
          </a:p>
          <a:p>
            <a:pPr algn="just"/>
            <a:r>
              <a:rPr lang="pt-BR" dirty="0"/>
              <a:t>Ele é um dos bancos de dados mais utilizados no mundo por ser rápido, confiável, de código aberto (open </a:t>
            </a:r>
            <a:r>
              <a:rPr lang="pt-BR" dirty="0" err="1"/>
              <a:t>source</a:t>
            </a:r>
            <a:r>
              <a:rPr lang="pt-BR" dirty="0"/>
              <a:t>) e compatível com diversos sistemas e linguagens de programação.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547664" y="11266"/>
            <a:ext cx="5582103" cy="825446"/>
          </a:xfrm>
        </p:spPr>
        <p:txBody>
          <a:bodyPr>
            <a:normAutofit/>
          </a:bodyPr>
          <a:lstStyle/>
          <a:p>
            <a:r>
              <a:rPr lang="pt-BR" sz="3200" dirty="0"/>
              <a:t>Sobre o MYSQL</a:t>
            </a:r>
          </a:p>
        </p:txBody>
      </p:sp>
    </p:spTree>
    <p:extLst>
      <p:ext uri="{BB962C8B-B14F-4D97-AF65-F5344CB8AC3E}">
        <p14:creationId xmlns:p14="http://schemas.microsoft.com/office/powerpoint/2010/main" val="141374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-90264" y="790432"/>
            <a:ext cx="9324528" cy="5641994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pt-BR" dirty="0"/>
              <a:t>O Mysql foi desenvolvido em 1995 com a versão 1.0;</a:t>
            </a:r>
          </a:p>
          <a:p>
            <a:pPr algn="just">
              <a:buNone/>
            </a:pPr>
            <a:r>
              <a:rPr lang="pt-BR" dirty="0"/>
              <a:t> </a:t>
            </a:r>
          </a:p>
          <a:p>
            <a:pPr algn="just">
              <a:buNone/>
            </a:pPr>
            <a:r>
              <a:rPr lang="pt-BR" dirty="0"/>
              <a:t>Em maio de 1995 é que a primeira versão do MySQL</a:t>
            </a:r>
          </a:p>
          <a:p>
            <a:pPr algn="just">
              <a:buNone/>
            </a:pPr>
            <a:r>
              <a:rPr lang="pt-BR" dirty="0"/>
              <a:t>foi definitivamente lançada;</a:t>
            </a:r>
          </a:p>
          <a:p>
            <a:pPr algn="just">
              <a:buNone/>
            </a:pPr>
            <a:endParaRPr lang="pt-BR" dirty="0"/>
          </a:p>
          <a:p>
            <a:pPr algn="just">
              <a:buNone/>
            </a:pPr>
            <a:r>
              <a:rPr lang="pt-BR" dirty="0"/>
              <a:t>Distribuição foi para  servidor na Internet, o objetivo</a:t>
            </a:r>
          </a:p>
          <a:p>
            <a:pPr algn="just">
              <a:buNone/>
            </a:pPr>
            <a:r>
              <a:rPr lang="pt-BR" dirty="0"/>
              <a:t>era a utilização de um modelo pioneiro;</a:t>
            </a:r>
          </a:p>
          <a:p>
            <a:pPr algn="just">
              <a:buNone/>
            </a:pPr>
            <a:endParaRPr lang="pt-BR" dirty="0"/>
          </a:p>
          <a:p>
            <a:pPr algn="just">
              <a:buNone/>
            </a:pPr>
            <a:r>
              <a:rPr lang="pt-BR" dirty="0"/>
              <a:t>O resultado foi um sucesso, sendo o MySQL distribuído </a:t>
            </a:r>
          </a:p>
          <a:p>
            <a:pPr algn="just">
              <a:buNone/>
            </a:pPr>
            <a:r>
              <a:rPr lang="pt-BR" dirty="0"/>
              <a:t>gratuitamente.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19</a:t>
            </a:fld>
            <a:endParaRPr lang="pt-BR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547664" y="11266"/>
            <a:ext cx="5582103" cy="825446"/>
          </a:xfrm>
        </p:spPr>
        <p:txBody>
          <a:bodyPr>
            <a:normAutofit/>
          </a:bodyPr>
          <a:lstStyle/>
          <a:p>
            <a:r>
              <a:rPr lang="pt-BR" sz="3200" dirty="0"/>
              <a:t>Sobre o MYSQL</a:t>
            </a:r>
          </a:p>
        </p:txBody>
      </p:sp>
    </p:spTree>
    <p:extLst>
      <p:ext uri="{BB962C8B-B14F-4D97-AF65-F5344CB8AC3E}">
        <p14:creationId xmlns:p14="http://schemas.microsoft.com/office/powerpoint/2010/main" val="73615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/>
              <a:t>O Mysql é gratuito, atualmente versão 8.0.47</a:t>
            </a:r>
          </a:p>
          <a:p>
            <a:pPr>
              <a:buNone/>
            </a:pPr>
            <a:r>
              <a:rPr lang="pt-BR" dirty="0"/>
              <a:t>Podendo ser baixado nesse link</a:t>
            </a:r>
          </a:p>
          <a:p>
            <a:pPr>
              <a:buNone/>
            </a:pPr>
            <a:r>
              <a:rPr lang="pt-BR" sz="2800" dirty="0">
                <a:hlinkClick r:id="rId2"/>
              </a:rPr>
              <a:t>https://downloads.mysql.com/archives/workbench</a:t>
            </a:r>
            <a:endParaRPr lang="pt-BR" sz="2800" dirty="0"/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dirty="0"/>
              <a:t>Softwares utilizados</a:t>
            </a:r>
          </a:p>
          <a:p>
            <a:pPr>
              <a:buNone/>
            </a:pPr>
            <a:r>
              <a:rPr lang="pt-BR" dirty="0"/>
              <a:t>Mysql </a:t>
            </a:r>
            <a:r>
              <a:rPr lang="pt-BR" dirty="0" err="1"/>
              <a:t>workbench</a:t>
            </a:r>
            <a:r>
              <a:rPr lang="pt-BR" dirty="0"/>
              <a:t> 8.0</a:t>
            </a:r>
          </a:p>
          <a:p>
            <a:pPr>
              <a:buNone/>
            </a:pPr>
            <a:r>
              <a:rPr lang="pt-BR" dirty="0" err="1"/>
              <a:t>Xampp</a:t>
            </a:r>
            <a:r>
              <a:rPr lang="pt-BR" dirty="0"/>
              <a:t> 8.2 para rodar o servidor </a:t>
            </a:r>
            <a:r>
              <a:rPr lang="pt-BR" dirty="0" err="1"/>
              <a:t>mysql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547664" y="11266"/>
            <a:ext cx="5582103" cy="825446"/>
          </a:xfrm>
        </p:spPr>
        <p:txBody>
          <a:bodyPr>
            <a:normAutofit/>
          </a:bodyPr>
          <a:lstStyle/>
          <a:p>
            <a:r>
              <a:rPr lang="pt-BR" sz="3200" dirty="0"/>
              <a:t>Sobre o MYSQL</a:t>
            </a:r>
          </a:p>
        </p:txBody>
      </p:sp>
    </p:spTree>
    <p:extLst>
      <p:ext uri="{BB962C8B-B14F-4D97-AF65-F5344CB8AC3E}">
        <p14:creationId xmlns:p14="http://schemas.microsoft.com/office/powerpoint/2010/main" val="48491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00232" y="0"/>
            <a:ext cx="4686304" cy="571480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Questões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642918"/>
            <a:ext cx="8229600" cy="6000768"/>
          </a:xfrm>
        </p:spPr>
        <p:txBody>
          <a:bodyPr>
            <a:normAutofit fontScale="32500" lnSpcReduction="20000"/>
          </a:bodyPr>
          <a:lstStyle/>
          <a:p>
            <a:pPr marL="742950" indent="-742950">
              <a:buFont typeface="+mj-lt"/>
              <a:buAutoNum type="arabicParenR"/>
            </a:pPr>
            <a:r>
              <a:rPr lang="pt-BR" sz="5500" dirty="0">
                <a:latin typeface="+mj-lt"/>
              </a:rPr>
              <a:t>Pesquisar sobre os bancos de dados: </a:t>
            </a:r>
            <a:r>
              <a:rPr lang="pt-BR" sz="5500" dirty="0" err="1">
                <a:latin typeface="+mj-lt"/>
              </a:rPr>
              <a:t>SQLServer</a:t>
            </a:r>
            <a:r>
              <a:rPr lang="pt-BR" sz="5500" dirty="0">
                <a:latin typeface="+mj-lt"/>
              </a:rPr>
              <a:t>,  DB2_IBM, Oracle, </a:t>
            </a:r>
            <a:r>
              <a:rPr lang="pt-BR" sz="5500" dirty="0" err="1">
                <a:latin typeface="+mj-lt"/>
              </a:rPr>
              <a:t>MySql</a:t>
            </a:r>
            <a:r>
              <a:rPr lang="pt-BR" sz="5500" dirty="0">
                <a:latin typeface="+mj-lt"/>
              </a:rPr>
              <a:t> e </a:t>
            </a:r>
            <a:r>
              <a:rPr lang="pt-BR" sz="5500" dirty="0" err="1">
                <a:latin typeface="+mj-lt"/>
              </a:rPr>
              <a:t>PostgreSql</a:t>
            </a:r>
            <a:r>
              <a:rPr lang="pt-BR" sz="5500" dirty="0">
                <a:latin typeface="+mj-lt"/>
              </a:rPr>
              <a:t>.(histórico)</a:t>
            </a:r>
          </a:p>
          <a:p>
            <a:pPr marL="742950" indent="-742950">
              <a:buFont typeface="+mj-lt"/>
              <a:buAutoNum type="arabicParenR"/>
            </a:pPr>
            <a:endParaRPr lang="pt-BR" sz="5500" dirty="0">
              <a:latin typeface="+mj-lt"/>
            </a:endParaRPr>
          </a:p>
          <a:p>
            <a:pPr marL="742950" indent="-742950">
              <a:buFont typeface="+mj-lt"/>
              <a:buAutoNum type="arabicParenR"/>
            </a:pPr>
            <a:r>
              <a:rPr lang="pt-BR" sz="5500" dirty="0">
                <a:latin typeface="+mj-lt"/>
              </a:rPr>
              <a:t>Como um banco de dados relacional organiza seus dados?</a:t>
            </a:r>
          </a:p>
          <a:p>
            <a:pPr marL="742950" indent="-742950">
              <a:buFont typeface="+mj-lt"/>
              <a:buAutoNum type="arabicParenR"/>
            </a:pPr>
            <a:endParaRPr lang="pt-BR" sz="5500" dirty="0">
              <a:latin typeface="+mj-lt"/>
            </a:endParaRPr>
          </a:p>
          <a:p>
            <a:pPr marL="742950" indent="-742950">
              <a:buFont typeface="+mj-lt"/>
              <a:buAutoNum type="arabicParenR"/>
            </a:pPr>
            <a:r>
              <a:rPr lang="pt-BR" sz="5500" dirty="0">
                <a:latin typeface="+mj-lt"/>
              </a:rPr>
              <a:t>Defina campo, registro, tabela e banco de dados</a:t>
            </a:r>
          </a:p>
          <a:p>
            <a:pPr marL="742950" indent="-742950">
              <a:buFont typeface="+mj-lt"/>
              <a:buAutoNum type="arabicParenR"/>
            </a:pPr>
            <a:endParaRPr lang="pt-BR" sz="5500" dirty="0">
              <a:latin typeface="+mj-lt"/>
            </a:endParaRPr>
          </a:p>
          <a:p>
            <a:pPr marL="742950" indent="-742950">
              <a:buFont typeface="+mj-lt"/>
              <a:buAutoNum type="arabicParenR"/>
            </a:pPr>
            <a:r>
              <a:rPr lang="pt-BR" sz="5500" dirty="0">
                <a:latin typeface="+mj-lt"/>
              </a:rPr>
              <a:t>Cite duas aplicações práticas dos operadores de conjunto em bancos de dados.</a:t>
            </a:r>
          </a:p>
          <a:p>
            <a:pPr marL="0" indent="0">
              <a:buNone/>
            </a:pPr>
            <a:endParaRPr lang="pt-BR" sz="5500" dirty="0">
              <a:latin typeface="+mj-lt"/>
            </a:endParaRPr>
          </a:p>
          <a:p>
            <a:pPr marL="0" indent="0">
              <a:buNone/>
            </a:pPr>
            <a:r>
              <a:rPr lang="pt-BR" sz="5500" dirty="0">
                <a:latin typeface="+mj-lt"/>
              </a:rPr>
              <a:t>5 )         O que é um Big Data, e cite alguns exemplos de Big Data?</a:t>
            </a:r>
          </a:p>
          <a:p>
            <a:pPr marL="0" indent="0">
              <a:buNone/>
            </a:pPr>
            <a:r>
              <a:rPr lang="pt-BR" sz="5500" dirty="0">
                <a:latin typeface="+mj-lt"/>
                <a:hlinkClick r:id="rId2"/>
              </a:rPr>
              <a:t>https://www.oracle.com/br/big-data/what-is-big-data/</a:t>
            </a:r>
            <a:endParaRPr lang="pt-BR" sz="5500" dirty="0">
              <a:latin typeface="+mj-lt"/>
            </a:endParaRPr>
          </a:p>
          <a:p>
            <a:pPr marL="0" indent="0">
              <a:buNone/>
            </a:pPr>
            <a:endParaRPr lang="pt-BR" sz="5500" dirty="0">
              <a:latin typeface="+mj-lt"/>
            </a:endParaRPr>
          </a:p>
          <a:p>
            <a:pPr marL="914400" indent="-914400">
              <a:buAutoNum type="arabicParenR" startAt="6"/>
            </a:pPr>
            <a:r>
              <a:rPr lang="pt-BR" sz="5500" dirty="0">
                <a:latin typeface="+mj-lt"/>
              </a:rPr>
              <a:t>Quais são os subconjuntos que compõem a linguagem SQL?</a:t>
            </a:r>
          </a:p>
          <a:p>
            <a:pPr marL="914400" indent="-914400">
              <a:buAutoNum type="arabicParenR" startAt="7"/>
            </a:pPr>
            <a:endParaRPr lang="pt-BR" sz="5500" dirty="0">
              <a:latin typeface="+mj-lt"/>
            </a:endParaRPr>
          </a:p>
          <a:p>
            <a:pPr marL="914400" indent="-914400">
              <a:buAutoNum type="arabicParenR" startAt="7"/>
            </a:pPr>
            <a:r>
              <a:rPr lang="pt-BR" sz="5500" dirty="0">
                <a:latin typeface="+mj-lt"/>
              </a:rPr>
              <a:t>Qual a geração da linguagem SQL? Explique.</a:t>
            </a:r>
          </a:p>
          <a:p>
            <a:pPr marL="0" indent="0">
              <a:buNone/>
            </a:pPr>
            <a:endParaRPr lang="pt-BR" sz="5500" dirty="0">
              <a:latin typeface="+mj-lt"/>
            </a:endParaRPr>
          </a:p>
          <a:p>
            <a:pPr marL="914400" indent="-914400">
              <a:buAutoNum type="arabicParenR" startAt="8"/>
            </a:pPr>
            <a:r>
              <a:rPr lang="pt-BR" sz="5500" dirty="0">
                <a:latin typeface="+mj-lt"/>
              </a:rPr>
              <a:t>Qual a diferença entre informação e dado?</a:t>
            </a:r>
          </a:p>
          <a:p>
            <a:pPr marL="914400" indent="-914400">
              <a:buAutoNum type="arabicParenR" startAt="8"/>
            </a:pPr>
            <a:endParaRPr lang="pt-BR" sz="5500" dirty="0">
              <a:latin typeface="+mj-lt"/>
            </a:endParaRPr>
          </a:p>
          <a:p>
            <a:pPr marL="914400" indent="-914400">
              <a:buAutoNum type="arabicParenR" startAt="8"/>
            </a:pPr>
            <a:r>
              <a:rPr lang="pt-BR" sz="5500" dirty="0">
                <a:latin typeface="+mj-lt"/>
              </a:rPr>
              <a:t>Qual a importância da SQL para os sistemas de informação?</a:t>
            </a:r>
            <a:endParaRPr lang="pt-BR" sz="8600" dirty="0">
              <a:latin typeface="+mj-lt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956376" y="6356350"/>
            <a:ext cx="730424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21</a:t>
            </a:fld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954</Words>
  <Application>Microsoft Office PowerPoint</Application>
  <PresentationFormat>Apresentação na tela (4:3)</PresentationFormat>
  <Paragraphs>160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Tema do Office</vt:lpstr>
      <vt:lpstr>Fundamentos de SQL</vt:lpstr>
      <vt:lpstr>Sobre o SQL</vt:lpstr>
      <vt:lpstr>Sobre o SQL</vt:lpstr>
      <vt:lpstr>SQL</vt:lpstr>
      <vt:lpstr>Conjuntos de sql</vt:lpstr>
      <vt:lpstr>Data Definition Language (Linguagem de Definição de Dados)</vt:lpstr>
      <vt:lpstr>Data Definition Language (Linguagem de Definição de Dados)</vt:lpstr>
      <vt:lpstr>Data Manipulation Language (Linguagem de Manipulação de Dados)</vt:lpstr>
      <vt:lpstr>Data Manipulation Language (Linguagem de Manipulação de Dados)</vt:lpstr>
      <vt:lpstr>Data Query Language (Linguagem de Pesquisa de Dados)</vt:lpstr>
      <vt:lpstr>Stored Routines Commands (Comandos de Rotinas Armazenadas)</vt:lpstr>
      <vt:lpstr>Stored Routines Commands (Comandos de Rotinas Armazenadas)</vt:lpstr>
      <vt:lpstr>DATA CONTROL LANGUAGE (Linguagem de Controle de Acesso)</vt:lpstr>
      <vt:lpstr>DATA CONTROL LANGUAGE (Linguagem de Controle de Acesso)</vt:lpstr>
      <vt:lpstr>Data Type Commands (Comandos de Tipos de Dados)</vt:lpstr>
      <vt:lpstr>Data Type Commands (Comandos de Tipos de Dados)</vt:lpstr>
      <vt:lpstr>Apresentação do PowerPoint</vt:lpstr>
      <vt:lpstr>Sobre o MYSQL</vt:lpstr>
      <vt:lpstr>Sobre o MYSQL</vt:lpstr>
      <vt:lpstr>Sobre o MYSQL</vt:lpstr>
      <vt:lpstr>Questões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TLBD_II</dc:title>
  <dc:creator>sergio</dc:creator>
  <cp:lastModifiedBy>Lab04</cp:lastModifiedBy>
  <cp:revision>37</cp:revision>
  <dcterms:created xsi:type="dcterms:W3CDTF">2011-08-15T19:37:21Z</dcterms:created>
  <dcterms:modified xsi:type="dcterms:W3CDTF">2026-08-04T22:48:43Z</dcterms:modified>
</cp:coreProperties>
</file>